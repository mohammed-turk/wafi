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5706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My name is Mohammed Turki, and today I'll be presenting Wafi — an AI-powered telecom subscription management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Wafi in one sentence: it centralizes subscriptions across providers, proactively warns before expiry with AI-suggested alternatives, and gives an AI-driven first response when something goes wrong. Let me start with why this matters.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telecom subscriber deals with the same recurring pain: multiple subscriptions, no unified tracking, no warning before a bad renewal, and when something actually goes wrong, no clear fast path to resolution. You're left calling support, waiting, and hoping.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hypothetical — it happened to me. I had a Mobily prepaid internet plan up for renewal. The request got stuck. Money was deducted twice, but the plan was never activated. No internet, no clear explanation, no fast response from support. I ended up switching providers out of frustration — to an alternative that honestly wasn't even the best option, I just needed connectivity fast and had no way to easily compare what else was out there.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experience is exactly what Wafi is built to prevent. Let me walk through how.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Wafi addresses this from three angles: visibility, proactive guidance, and support when things go wrong — all backed by real AI, not static rules. Here are the five features that make that happen.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Wafi centralizes every subscription across providers in one place — plan, provider, cost, allowance, expiry — so you always know what you have and when it runs out. No more guessing.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finding out too late like I did, Wafi watches expiry dates automatically. A few days before a plan expires, it notifies you via WhatsApp and email — and it doesn't just say your plan is expiring, it uses AI to suggest a real competing plan from another provider, so you're never stuck picking blindly.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directly answers my Mobily experience. When a user reports an issue — stuck renewal, double charge, anything — instead of silence, Wafi's AI immediately analyzes the issue in context of the actual subscription and gives a practical suggestion, or flags clearly if it needs human support.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user shopping for a new plan altogether, Wafi can suggest a real plan that fits their budget and needs — again, AI-driven, not static filters.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the scenes, Wafi automatically classifies users — VIP, regular, at-risk with multiple unresolved issues, or inactive — which is what would let a real telecom provider proactively catch users like past-me before they churn to a worse alternative out of frustration.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look under the hood: Spring Boot with Spring Data JPA and MySQL for the backend, Google Gemini for every AI feature, WhatsApp via Green API and Gmail SMTP for delivery, and a seeded Postman collection for the live demo.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Wafi turns a frustrating, reactive experience — the one I lived through — into a proactive, transparent one. It's not just a subscription tracker; it's a safety net between the user and the provider, powered by AI at every decision point. Thank you.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0"/>
        </a:solidFill>
        <a:effectLst/>
      </p:bgPr>
    </p:bg>
    <p:spTree>
      <p:nvGrpSpPr>
        <p:cNvPr id="1" name=""/>
        <p:cNvGrpSpPr/>
        <p:nvPr/>
      </p:nvGrpSpPr>
      <p:grpSpPr>
        <a:xfrm>
          <a:off x="0" y="0"/>
          <a:ext cx="0" cy="0"/>
          <a:chOff x="0" y="0"/>
          <a:chExt cx="0" cy="0"/>
        </a:xfrm>
      </p:grpSpPr>
      <p:pic>
        <p:nvPicPr>
          <p:cNvPr id="3" name="Image 1" descr="ellipse"/>
          <p:cNvPicPr>
            <a:picLocks noChangeAspect="1"/>
          </p:cNvPicPr>
          <p:nvPr/>
        </p:nvPicPr>
        <p:blipFill>
          <a:blip r:embed="rId3"/>
          <a:srcRect/>
          <a:stretch/>
        </p:blipFill>
        <p:spPr>
          <a:xfrm>
            <a:off x="9169400" y="4064000"/>
            <a:ext cx="355600" cy="355600"/>
          </a:xfrm>
          <a:prstGeom prst="rect">
            <a:avLst/>
          </a:prstGeom>
        </p:spPr>
      </p:pic>
      <p:pic>
        <p:nvPicPr>
          <p:cNvPr id="4" name="Image 2" descr="ellipse"/>
          <p:cNvPicPr>
            <a:picLocks noChangeAspect="1"/>
          </p:cNvPicPr>
          <p:nvPr/>
        </p:nvPicPr>
        <p:blipFill>
          <a:blip r:embed="rId4"/>
          <a:srcRect/>
          <a:stretch/>
        </p:blipFill>
        <p:spPr>
          <a:xfrm>
            <a:off x="11277600" y="5943600"/>
            <a:ext cx="152400" cy="152400"/>
          </a:xfrm>
          <a:prstGeom prst="rect">
            <a:avLst/>
          </a:prstGeom>
        </p:spPr>
      </p:pic>
      <p:pic>
        <p:nvPicPr>
          <p:cNvPr id="5" name="Image 3" descr="rect"/>
          <p:cNvPicPr>
            <a:picLocks noChangeAspect="1"/>
          </p:cNvPicPr>
          <p:nvPr/>
        </p:nvPicPr>
        <p:blipFill>
          <a:blip r:embed="rId5"/>
          <a:srcRect/>
          <a:stretch/>
        </p:blipFill>
        <p:spPr>
          <a:xfrm>
            <a:off x="812800" y="2237740"/>
            <a:ext cx="203200" cy="38100"/>
          </a:xfrm>
          <a:prstGeom prst="rect">
            <a:avLst/>
          </a:prstGeom>
        </p:spPr>
      </p:pic>
      <p:sp>
        <p:nvSpPr>
          <p:cNvPr id="6" name="Text 0"/>
          <p:cNvSpPr/>
          <p:nvPr/>
        </p:nvSpPr>
        <p:spPr>
          <a:xfrm>
            <a:off x="1104900" y="2150110"/>
            <a:ext cx="2057560"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3557FF"/>
                </a:solidFill>
                <a:latin typeface="Inter" pitchFamily="34" charset="0"/>
                <a:ea typeface="Inter" pitchFamily="34" charset="-122"/>
                <a:cs typeface="Inter" pitchFamily="34" charset="-120"/>
              </a:rPr>
              <a:t>CAPSTONE PROJECT</a:t>
            </a:r>
            <a:endParaRPr lang="en-US" sz="1200" dirty="0"/>
          </a:p>
        </p:txBody>
      </p:sp>
      <p:sp>
        <p:nvSpPr>
          <p:cNvPr id="7" name="Text 1"/>
          <p:cNvSpPr/>
          <p:nvPr/>
        </p:nvSpPr>
        <p:spPr>
          <a:xfrm>
            <a:off x="812800" y="2541270"/>
            <a:ext cx="10883392" cy="1231900"/>
          </a:xfrm>
          <a:prstGeom prst="rect">
            <a:avLst/>
          </a:prstGeom>
          <a:noFill/>
          <a:ln/>
        </p:spPr>
        <p:txBody>
          <a:bodyPr wrap="square" lIns="0" tIns="0" rIns="0" bIns="0" rtlCol="0" anchor="t">
            <a:normAutofit/>
          </a:bodyPr>
          <a:lstStyle/>
          <a:p>
            <a:pPr marL="0" indent="0" algn="l">
              <a:lnSpc>
                <a:spcPts val="9500"/>
              </a:lnSpc>
              <a:buNone/>
            </a:pPr>
            <a:r>
              <a:rPr lang="en-US" sz="9500" b="1" dirty="0">
                <a:solidFill>
                  <a:srgbClr val="14171C"/>
                </a:solidFill>
                <a:latin typeface="Space Grotesk" pitchFamily="34" charset="0"/>
                <a:ea typeface="Space Grotesk" pitchFamily="34" charset="-122"/>
                <a:cs typeface="Space Grotesk" pitchFamily="34" charset="-120"/>
              </a:rPr>
              <a:t>Wafi</a:t>
            </a:r>
            <a:endParaRPr lang="en-US" sz="9500" dirty="0"/>
          </a:p>
        </p:txBody>
      </p:sp>
      <p:sp>
        <p:nvSpPr>
          <p:cNvPr id="8" name="Text 2"/>
          <p:cNvSpPr/>
          <p:nvPr/>
        </p:nvSpPr>
        <p:spPr>
          <a:xfrm>
            <a:off x="812800" y="3925570"/>
            <a:ext cx="7848600" cy="8077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6B7280"/>
                </a:solidFill>
                <a:latin typeface="Inter" pitchFamily="34" charset="0"/>
                <a:ea typeface="Inter" pitchFamily="34" charset="-122"/>
                <a:cs typeface="Inter" pitchFamily="34" charset="-120"/>
              </a:rPr>
              <a:t>AI-powered telecom subscription management — track, predict, and resolve.</a:t>
            </a:r>
            <a:endParaRPr lang="en-US" sz="2200" dirty="0"/>
          </a:p>
        </p:txBody>
      </p:sp>
      <p:sp>
        <p:nvSpPr>
          <p:cNvPr id="9" name="Text 3"/>
          <p:cNvSpPr/>
          <p:nvPr/>
        </p:nvSpPr>
        <p:spPr>
          <a:xfrm>
            <a:off x="812800" y="5963920"/>
            <a:ext cx="1784575"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71C"/>
                </a:solidFill>
                <a:latin typeface="Inter" pitchFamily="34" charset="0"/>
                <a:ea typeface="Inter" pitchFamily="34" charset="-122"/>
                <a:cs typeface="Inter" pitchFamily="34" charset="-120"/>
              </a:rPr>
              <a:t>Mohammed </a:t>
            </a:r>
            <a:r>
              <a:rPr lang="en-US" sz="1600" b="1" dirty="0" err="1">
                <a:solidFill>
                  <a:srgbClr val="14171C"/>
                </a:solidFill>
                <a:latin typeface="Inter" pitchFamily="34" charset="0"/>
                <a:ea typeface="Inter" pitchFamily="34" charset="-122"/>
                <a:cs typeface="Inter" pitchFamily="34" charset="-120"/>
              </a:rPr>
              <a:t>Aljubaili</a:t>
            </a:r>
            <a:endParaRPr lang="en-US" sz="1600" dirty="0"/>
          </a:p>
        </p:txBody>
      </p:sp>
      <p:sp>
        <p:nvSpPr>
          <p:cNvPr id="10" name="Text 4"/>
          <p:cNvSpPr/>
          <p:nvPr/>
        </p:nvSpPr>
        <p:spPr>
          <a:xfrm>
            <a:off x="9051925" y="6035040"/>
            <a:ext cx="2397093" cy="23876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6B7280"/>
                </a:solidFill>
                <a:latin typeface="Inter" pitchFamily="34" charset="0"/>
                <a:ea typeface="Inter" pitchFamily="34" charset="-122"/>
                <a:cs typeface="Inter" pitchFamily="34" charset="-120"/>
              </a:rPr>
              <a:t>Tuwaiq</a:t>
            </a:r>
            <a:r>
              <a:rPr lang="en-US" sz="1200" dirty="0">
                <a:solidFill>
                  <a:srgbClr val="6B7280"/>
                </a:solidFill>
                <a:latin typeface="Inter" pitchFamily="34" charset="0"/>
                <a:ea typeface="Inter" pitchFamily="34" charset="-122"/>
                <a:cs typeface="Inter" pitchFamily="34" charset="-120"/>
              </a:rPr>
              <a:t> — Java Bootcamp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a:stretch/>
        </p:blipFill>
        <p:spPr>
          <a:xfrm>
            <a:off x="9271000" y="1143000"/>
            <a:ext cx="1778000" cy="1778000"/>
          </a:xfrm>
          <a:prstGeom prst="rect">
            <a:avLst/>
          </a:prstGeom>
        </p:spPr>
      </p:pic>
      <p:pic>
        <p:nvPicPr>
          <p:cNvPr id="3" name="Image 1" descr="rect"/>
          <p:cNvPicPr>
            <a:picLocks noChangeAspect="1"/>
          </p:cNvPicPr>
          <p:nvPr/>
        </p:nvPicPr>
        <p:blipFill>
          <a:blip r:embed="rId4"/>
          <a:srcRect/>
          <a:stretch/>
        </p:blipFill>
        <p:spPr>
          <a:xfrm>
            <a:off x="812800" y="2323465"/>
            <a:ext cx="203200" cy="38100"/>
          </a:xfrm>
          <a:prstGeom prst="rect">
            <a:avLst/>
          </a:prstGeom>
        </p:spPr>
      </p:pic>
      <p:sp>
        <p:nvSpPr>
          <p:cNvPr id="4" name="Text 0"/>
          <p:cNvSpPr/>
          <p:nvPr/>
        </p:nvSpPr>
        <p:spPr>
          <a:xfrm>
            <a:off x="1104900" y="2244725"/>
            <a:ext cx="956786" cy="220980"/>
          </a:xfrm>
          <a:prstGeom prst="rect">
            <a:avLst/>
          </a:prstGeom>
          <a:noFill/>
          <a:ln/>
        </p:spPr>
        <p:txBody>
          <a:bodyPr wrap="square" lIns="0" tIns="0" rIns="0" bIns="0" rtlCol="0" anchor="t">
            <a:normAutofit/>
          </a:bodyPr>
          <a:lstStyle/>
          <a:p>
            <a:pPr marL="0" indent="0" algn="l">
              <a:lnSpc>
                <a:spcPts val="1540"/>
              </a:lnSpc>
              <a:buNone/>
            </a:pPr>
            <a:r>
              <a:rPr lang="en-US" sz="1100" b="1" kern="0" spc="150" dirty="0">
                <a:solidFill>
                  <a:srgbClr val="3557FF"/>
                </a:solidFill>
                <a:latin typeface="Inter" pitchFamily="34" charset="0"/>
                <a:ea typeface="Inter" pitchFamily="34" charset="-122"/>
                <a:cs typeface="Inter" pitchFamily="34" charset="-120"/>
              </a:rPr>
              <a:t>OVERVIEW</a:t>
            </a:r>
            <a:endParaRPr lang="en-US" sz="1100" dirty="0"/>
          </a:p>
        </p:txBody>
      </p:sp>
      <p:sp>
        <p:nvSpPr>
          <p:cNvPr id="5" name="Text 1"/>
          <p:cNvSpPr/>
          <p:nvPr/>
        </p:nvSpPr>
        <p:spPr>
          <a:xfrm>
            <a:off x="812800" y="2745105"/>
            <a:ext cx="9483725" cy="1690370"/>
          </a:xfrm>
          <a:prstGeom prst="rect">
            <a:avLst/>
          </a:prstGeom>
          <a:noFill/>
          <a:ln/>
        </p:spPr>
        <p:txBody>
          <a:bodyPr wrap="square" lIns="0" tIns="0" rIns="0" bIns="0" rtlCol="0" anchor="t">
            <a:normAutofit/>
          </a:bodyPr>
          <a:lstStyle/>
          <a:p>
            <a:pPr marL="0" indent="0" algn="l">
              <a:lnSpc>
                <a:spcPts val="4370"/>
              </a:lnSpc>
              <a:buNone/>
            </a:pPr>
            <a:r>
              <a:rPr lang="en-US" sz="3800" b="1" dirty="0">
                <a:solidFill>
                  <a:srgbClr val="14171C"/>
                </a:solidFill>
                <a:latin typeface="Space Grotesk" pitchFamily="34" charset="0"/>
                <a:ea typeface="Space Grotesk" pitchFamily="34" charset="-122"/>
                <a:cs typeface="Space Grotesk" pitchFamily="34" charset="-120"/>
              </a:rPr>
              <a:t>One place to track every subscription — and an AI layer that watches, warns, and resolves.</a:t>
            </a:r>
            <a:endParaRPr lang="en-US" sz="3800" dirty="0"/>
          </a:p>
        </p:txBody>
      </p:sp>
      <p:sp>
        <p:nvSpPr>
          <p:cNvPr id="6" name="Text 2"/>
          <p:cNvSpPr/>
          <p:nvPr/>
        </p:nvSpPr>
        <p:spPr>
          <a:xfrm>
            <a:off x="812800" y="6238241"/>
            <a:ext cx="3721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Wafi</a:t>
            </a:r>
            <a:endParaRPr lang="en-US" sz="1200" dirty="0"/>
          </a:p>
        </p:txBody>
      </p:sp>
      <p:sp>
        <p:nvSpPr>
          <p:cNvPr id="7" name="Text 3"/>
          <p:cNvSpPr/>
          <p:nvPr/>
        </p:nvSpPr>
        <p:spPr>
          <a:xfrm>
            <a:off x="11286252" y="6238241"/>
            <a:ext cx="1437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4F1"/>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a:stretch/>
        </p:blipFill>
        <p:spPr>
          <a:xfrm>
            <a:off x="812800" y="1342391"/>
            <a:ext cx="203200" cy="38100"/>
          </a:xfrm>
          <a:prstGeom prst="rect">
            <a:avLst/>
          </a:prstGeom>
        </p:spPr>
      </p:pic>
      <p:sp>
        <p:nvSpPr>
          <p:cNvPr id="3" name="Text 0"/>
          <p:cNvSpPr/>
          <p:nvPr/>
        </p:nvSpPr>
        <p:spPr>
          <a:xfrm>
            <a:off x="1104900" y="1263650"/>
            <a:ext cx="1252299" cy="220980"/>
          </a:xfrm>
          <a:prstGeom prst="rect">
            <a:avLst/>
          </a:prstGeom>
          <a:noFill/>
          <a:ln/>
        </p:spPr>
        <p:txBody>
          <a:bodyPr wrap="square" lIns="0" tIns="0" rIns="0" bIns="0" rtlCol="0" anchor="t">
            <a:normAutofit/>
          </a:bodyPr>
          <a:lstStyle/>
          <a:p>
            <a:pPr marL="0" indent="0" algn="l">
              <a:lnSpc>
                <a:spcPts val="1540"/>
              </a:lnSpc>
              <a:buNone/>
            </a:pPr>
            <a:r>
              <a:rPr lang="en-US" sz="1100" b="1" kern="0" spc="150" dirty="0">
                <a:solidFill>
                  <a:srgbClr val="FF3B30"/>
                </a:solidFill>
                <a:latin typeface="Inter" pitchFamily="34" charset="0"/>
                <a:ea typeface="Inter" pitchFamily="34" charset="-122"/>
                <a:cs typeface="Inter" pitchFamily="34" charset="-120"/>
              </a:rPr>
              <a:t>THE PROBLEM</a:t>
            </a:r>
            <a:endParaRPr lang="en-US" sz="1100" dirty="0"/>
          </a:p>
        </p:txBody>
      </p:sp>
      <p:sp>
        <p:nvSpPr>
          <p:cNvPr id="4" name="Text 1"/>
          <p:cNvSpPr/>
          <p:nvPr/>
        </p:nvSpPr>
        <p:spPr>
          <a:xfrm>
            <a:off x="812800" y="1713230"/>
            <a:ext cx="9810750" cy="1488440"/>
          </a:xfrm>
          <a:prstGeom prst="rect">
            <a:avLst/>
          </a:prstGeom>
          <a:noFill/>
          <a:ln/>
        </p:spPr>
        <p:txBody>
          <a:bodyPr wrap="square" lIns="0" tIns="0" rIns="0" bIns="0" rtlCol="0" anchor="t">
            <a:normAutofit/>
          </a:bodyPr>
          <a:lstStyle/>
          <a:p>
            <a:pPr marL="0" indent="0" algn="l">
              <a:lnSpc>
                <a:spcPts val="3840"/>
              </a:lnSpc>
              <a:buNone/>
            </a:pPr>
            <a:r>
              <a:rPr lang="en-US" sz="3200" b="1" dirty="0">
                <a:solidFill>
                  <a:srgbClr val="14171C"/>
                </a:solidFill>
                <a:latin typeface="Space Grotesk" pitchFamily="34" charset="0"/>
                <a:ea typeface="Space Grotesk" pitchFamily="34" charset="-122"/>
                <a:cs typeface="Space Grotesk" pitchFamily="34" charset="-120"/>
              </a:rPr>
              <a:t>Subscribers juggle multiple plans with low visibility — and no fast path when something breaks.</a:t>
            </a:r>
            <a:endParaRPr lang="en-US" sz="3200" dirty="0"/>
          </a:p>
        </p:txBody>
      </p:sp>
      <p:sp>
        <p:nvSpPr>
          <p:cNvPr id="5" name="Shape 2"/>
          <p:cNvSpPr/>
          <p:nvPr/>
        </p:nvSpPr>
        <p:spPr>
          <a:xfrm>
            <a:off x="812800" y="3430270"/>
            <a:ext cx="3386614" cy="1960880"/>
          </a:xfrm>
          <a:prstGeom prst="roundRect">
            <a:avLst>
              <a:gd name="adj" fmla="val 6477"/>
            </a:avLst>
          </a:prstGeom>
          <a:solidFill>
            <a:srgbClr val="FFFFFF"/>
          </a:solidFill>
          <a:ln/>
        </p:spPr>
        <p:txBody>
          <a:bodyPr/>
          <a:lstStyle/>
          <a:p>
            <a:endParaRPr lang="en-US"/>
          </a:p>
        </p:txBody>
      </p:sp>
      <p:sp>
        <p:nvSpPr>
          <p:cNvPr id="6" name="Shape 3"/>
          <p:cNvSpPr/>
          <p:nvPr/>
        </p:nvSpPr>
        <p:spPr>
          <a:xfrm>
            <a:off x="1066800" y="3684270"/>
            <a:ext cx="355600" cy="355600"/>
          </a:xfrm>
          <a:prstGeom prst="roundRect">
            <a:avLst>
              <a:gd name="adj" fmla="val 50000"/>
            </a:avLst>
          </a:prstGeom>
          <a:solidFill>
            <a:srgbClr val="FF3B30"/>
          </a:solidFill>
          <a:ln/>
        </p:spPr>
        <p:txBody>
          <a:bodyPr/>
          <a:lstStyle/>
          <a:p>
            <a:endParaRPr lang="en-US"/>
          </a:p>
        </p:txBody>
      </p:sp>
      <p:sp>
        <p:nvSpPr>
          <p:cNvPr id="7" name="Text 4"/>
          <p:cNvSpPr/>
          <p:nvPr/>
        </p:nvSpPr>
        <p:spPr>
          <a:xfrm>
            <a:off x="1208961" y="3746500"/>
            <a:ext cx="121999"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Inter" pitchFamily="34" charset="0"/>
                <a:ea typeface="Inter" pitchFamily="34" charset="-122"/>
                <a:cs typeface="Inter" pitchFamily="34" charset="-120"/>
              </a:rPr>
              <a:t>1</a:t>
            </a:r>
            <a:endParaRPr lang="en-US" sz="1300" dirty="0"/>
          </a:p>
        </p:txBody>
      </p:sp>
      <p:sp>
        <p:nvSpPr>
          <p:cNvPr id="8" name="Text 5"/>
          <p:cNvSpPr/>
          <p:nvPr/>
        </p:nvSpPr>
        <p:spPr>
          <a:xfrm>
            <a:off x="1066800" y="4154170"/>
            <a:ext cx="296497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171C"/>
                </a:solidFill>
                <a:latin typeface="Inter" pitchFamily="34" charset="0"/>
                <a:ea typeface="Inter" pitchFamily="34" charset="-122"/>
                <a:cs typeface="Inter" pitchFamily="34" charset="-120"/>
              </a:rPr>
              <a:t>Low visibility</a:t>
            </a:r>
            <a:endParaRPr lang="en-US" sz="1500" dirty="0"/>
          </a:p>
        </p:txBody>
      </p:sp>
      <p:sp>
        <p:nvSpPr>
          <p:cNvPr id="9" name="Text 6"/>
          <p:cNvSpPr/>
          <p:nvPr/>
        </p:nvSpPr>
        <p:spPr>
          <a:xfrm>
            <a:off x="1066800" y="4497070"/>
            <a:ext cx="296497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Plans across providers, no single view of what you have or when it expires.</a:t>
            </a:r>
            <a:endParaRPr lang="en-US" sz="1200" dirty="0"/>
          </a:p>
        </p:txBody>
      </p:sp>
      <p:sp>
        <p:nvSpPr>
          <p:cNvPr id="10" name="Shape 7"/>
          <p:cNvSpPr/>
          <p:nvPr/>
        </p:nvSpPr>
        <p:spPr>
          <a:xfrm>
            <a:off x="4402614" y="3430270"/>
            <a:ext cx="3386693" cy="1960880"/>
          </a:xfrm>
          <a:prstGeom prst="roundRect">
            <a:avLst>
              <a:gd name="adj" fmla="val 6477"/>
            </a:avLst>
          </a:prstGeom>
          <a:solidFill>
            <a:srgbClr val="FFFFFF"/>
          </a:solidFill>
          <a:ln/>
        </p:spPr>
        <p:txBody>
          <a:bodyPr/>
          <a:lstStyle/>
          <a:p>
            <a:endParaRPr lang="en-US"/>
          </a:p>
        </p:txBody>
      </p:sp>
      <p:sp>
        <p:nvSpPr>
          <p:cNvPr id="11" name="Shape 8"/>
          <p:cNvSpPr/>
          <p:nvPr/>
        </p:nvSpPr>
        <p:spPr>
          <a:xfrm>
            <a:off x="4656614" y="3684270"/>
            <a:ext cx="355600" cy="355600"/>
          </a:xfrm>
          <a:prstGeom prst="roundRect">
            <a:avLst>
              <a:gd name="adj" fmla="val 50000"/>
            </a:avLst>
          </a:prstGeom>
          <a:solidFill>
            <a:srgbClr val="FF3B30"/>
          </a:solidFill>
          <a:ln/>
        </p:spPr>
        <p:txBody>
          <a:bodyPr/>
          <a:lstStyle/>
          <a:p>
            <a:endParaRPr lang="en-US"/>
          </a:p>
        </p:txBody>
      </p:sp>
      <p:sp>
        <p:nvSpPr>
          <p:cNvPr id="12" name="Text 9"/>
          <p:cNvSpPr/>
          <p:nvPr/>
        </p:nvSpPr>
        <p:spPr>
          <a:xfrm>
            <a:off x="4782344" y="3746500"/>
            <a:ext cx="154861"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Inter" pitchFamily="34" charset="0"/>
                <a:ea typeface="Inter" pitchFamily="34" charset="-122"/>
                <a:cs typeface="Inter" pitchFamily="34" charset="-120"/>
              </a:rPr>
              <a:t>2</a:t>
            </a:r>
            <a:endParaRPr lang="en-US" sz="1300" dirty="0"/>
          </a:p>
        </p:txBody>
      </p:sp>
      <p:sp>
        <p:nvSpPr>
          <p:cNvPr id="13" name="Text 10"/>
          <p:cNvSpPr/>
          <p:nvPr/>
        </p:nvSpPr>
        <p:spPr>
          <a:xfrm>
            <a:off x="4656614" y="4154170"/>
            <a:ext cx="29650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171C"/>
                </a:solidFill>
                <a:latin typeface="Inter" pitchFamily="34" charset="0"/>
                <a:ea typeface="Inter" pitchFamily="34" charset="-122"/>
                <a:cs typeface="Inter" pitchFamily="34" charset="-120"/>
              </a:rPr>
              <a:t>No warning</a:t>
            </a:r>
            <a:endParaRPr lang="en-US" sz="1500" dirty="0"/>
          </a:p>
        </p:txBody>
      </p:sp>
      <p:sp>
        <p:nvSpPr>
          <p:cNvPr id="14" name="Text 11"/>
          <p:cNvSpPr/>
          <p:nvPr/>
        </p:nvSpPr>
        <p:spPr>
          <a:xfrm>
            <a:off x="4656614" y="4497070"/>
            <a:ext cx="2965054"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Plans auto-renew or lapse with no proactive heads-up or alternative offered.</a:t>
            </a:r>
            <a:endParaRPr lang="en-US" sz="1200" dirty="0"/>
          </a:p>
        </p:txBody>
      </p:sp>
      <p:sp>
        <p:nvSpPr>
          <p:cNvPr id="15" name="Shape 12"/>
          <p:cNvSpPr/>
          <p:nvPr/>
        </p:nvSpPr>
        <p:spPr>
          <a:xfrm>
            <a:off x="7992507" y="3430270"/>
            <a:ext cx="3386693" cy="1960880"/>
          </a:xfrm>
          <a:prstGeom prst="roundRect">
            <a:avLst>
              <a:gd name="adj" fmla="val 6477"/>
            </a:avLst>
          </a:prstGeom>
          <a:solidFill>
            <a:srgbClr val="FFFFFF"/>
          </a:solidFill>
          <a:ln/>
        </p:spPr>
        <p:txBody>
          <a:bodyPr/>
          <a:lstStyle/>
          <a:p>
            <a:endParaRPr lang="en-US"/>
          </a:p>
        </p:txBody>
      </p:sp>
      <p:sp>
        <p:nvSpPr>
          <p:cNvPr id="16" name="Shape 13"/>
          <p:cNvSpPr/>
          <p:nvPr/>
        </p:nvSpPr>
        <p:spPr>
          <a:xfrm>
            <a:off x="8246507" y="3684270"/>
            <a:ext cx="355600" cy="355600"/>
          </a:xfrm>
          <a:prstGeom prst="roundRect">
            <a:avLst>
              <a:gd name="adj" fmla="val 50000"/>
            </a:avLst>
          </a:prstGeom>
          <a:solidFill>
            <a:srgbClr val="FF3B30"/>
          </a:solidFill>
          <a:ln/>
        </p:spPr>
        <p:txBody>
          <a:bodyPr/>
          <a:lstStyle/>
          <a:p>
            <a:endParaRPr lang="en-US"/>
          </a:p>
        </p:txBody>
      </p:sp>
      <p:sp>
        <p:nvSpPr>
          <p:cNvPr id="17" name="Text 14"/>
          <p:cNvSpPr/>
          <p:nvPr/>
        </p:nvSpPr>
        <p:spPr>
          <a:xfrm>
            <a:off x="8370967" y="3746500"/>
            <a:ext cx="157401"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Inter" pitchFamily="34" charset="0"/>
                <a:ea typeface="Inter" pitchFamily="34" charset="-122"/>
                <a:cs typeface="Inter" pitchFamily="34" charset="-120"/>
              </a:rPr>
              <a:t>3</a:t>
            </a:r>
            <a:endParaRPr lang="en-US" sz="1300" dirty="0"/>
          </a:p>
        </p:txBody>
      </p:sp>
      <p:sp>
        <p:nvSpPr>
          <p:cNvPr id="18" name="Text 15"/>
          <p:cNvSpPr/>
          <p:nvPr/>
        </p:nvSpPr>
        <p:spPr>
          <a:xfrm>
            <a:off x="8246507" y="4154170"/>
            <a:ext cx="29650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171C"/>
                </a:solidFill>
                <a:latin typeface="Inter" pitchFamily="34" charset="0"/>
                <a:ea typeface="Inter" pitchFamily="34" charset="-122"/>
                <a:cs typeface="Inter" pitchFamily="34" charset="-120"/>
              </a:rPr>
              <a:t>No fast support</a:t>
            </a:r>
            <a:endParaRPr lang="en-US" sz="1500" dirty="0"/>
          </a:p>
        </p:txBody>
      </p:sp>
      <p:sp>
        <p:nvSpPr>
          <p:cNvPr id="19" name="Text 16"/>
          <p:cNvSpPr/>
          <p:nvPr/>
        </p:nvSpPr>
        <p:spPr>
          <a:xfrm>
            <a:off x="8246507" y="4497070"/>
            <a:ext cx="29650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When something goes wrong, the only option is waiting on a support queue.</a:t>
            </a:r>
            <a:endParaRPr lang="en-US" sz="1200" dirty="0"/>
          </a:p>
        </p:txBody>
      </p:sp>
      <p:sp>
        <p:nvSpPr>
          <p:cNvPr id="20" name="Text 17"/>
          <p:cNvSpPr/>
          <p:nvPr/>
        </p:nvSpPr>
        <p:spPr>
          <a:xfrm>
            <a:off x="812800" y="6238241"/>
            <a:ext cx="3721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6A63"/>
                </a:solidFill>
                <a:latin typeface="Inter" pitchFamily="34" charset="0"/>
                <a:ea typeface="Inter" pitchFamily="34" charset="-122"/>
                <a:cs typeface="Inter" pitchFamily="34" charset="-120"/>
              </a:rPr>
              <a:t>Wafi</a:t>
            </a:r>
            <a:endParaRPr lang="en-US" sz="1200" dirty="0"/>
          </a:p>
        </p:txBody>
      </p:sp>
      <p:sp>
        <p:nvSpPr>
          <p:cNvPr id="21" name="Text 18"/>
          <p:cNvSpPr/>
          <p:nvPr/>
        </p:nvSpPr>
        <p:spPr>
          <a:xfrm>
            <a:off x="11285062" y="6238241"/>
            <a:ext cx="14493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6A63"/>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4F1"/>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a:stretch/>
        </p:blipFill>
        <p:spPr>
          <a:xfrm>
            <a:off x="812800" y="1963420"/>
            <a:ext cx="203200" cy="38100"/>
          </a:xfrm>
          <a:prstGeom prst="rect">
            <a:avLst/>
          </a:prstGeom>
        </p:spPr>
      </p:pic>
      <p:sp>
        <p:nvSpPr>
          <p:cNvPr id="3" name="Text 0"/>
          <p:cNvSpPr/>
          <p:nvPr/>
        </p:nvSpPr>
        <p:spPr>
          <a:xfrm>
            <a:off x="1104900" y="1884680"/>
            <a:ext cx="1168718" cy="220980"/>
          </a:xfrm>
          <a:prstGeom prst="rect">
            <a:avLst/>
          </a:prstGeom>
          <a:noFill/>
          <a:ln/>
        </p:spPr>
        <p:txBody>
          <a:bodyPr wrap="square" lIns="0" tIns="0" rIns="0" bIns="0" rtlCol="0" anchor="t">
            <a:normAutofit/>
          </a:bodyPr>
          <a:lstStyle/>
          <a:p>
            <a:pPr marL="0" indent="0" algn="l">
              <a:lnSpc>
                <a:spcPts val="1540"/>
              </a:lnSpc>
              <a:buNone/>
            </a:pPr>
            <a:r>
              <a:rPr lang="en-US" sz="1100" b="1" kern="0" spc="150" dirty="0">
                <a:solidFill>
                  <a:srgbClr val="FF3B30"/>
                </a:solidFill>
                <a:latin typeface="Inter" pitchFamily="34" charset="0"/>
                <a:ea typeface="Inter" pitchFamily="34" charset="-122"/>
                <a:cs typeface="Inter" pitchFamily="34" charset="-120"/>
              </a:rPr>
              <a:t>A REAL CASE</a:t>
            </a:r>
            <a:endParaRPr lang="en-US" sz="1100" dirty="0"/>
          </a:p>
        </p:txBody>
      </p:sp>
      <p:sp>
        <p:nvSpPr>
          <p:cNvPr id="4" name="Text 1"/>
          <p:cNvSpPr/>
          <p:nvPr/>
        </p:nvSpPr>
        <p:spPr>
          <a:xfrm>
            <a:off x="812800" y="2359661"/>
            <a:ext cx="10137775" cy="1313180"/>
          </a:xfrm>
          <a:prstGeom prst="rect">
            <a:avLst/>
          </a:prstGeom>
          <a:noFill/>
          <a:ln/>
        </p:spPr>
        <p:txBody>
          <a:bodyPr wrap="square" lIns="0" tIns="0" rIns="0" bIns="0" rtlCol="0" anchor="t">
            <a:normAutofit/>
          </a:bodyPr>
          <a:lstStyle/>
          <a:p>
            <a:pPr marL="0" indent="0" algn="l">
              <a:lnSpc>
                <a:spcPts val="3380"/>
              </a:lnSpc>
              <a:buNone/>
            </a:pPr>
            <a:r>
              <a:rPr lang="en-US" sz="2600" b="1" dirty="0">
                <a:solidFill>
                  <a:srgbClr val="14171C"/>
                </a:solidFill>
                <a:latin typeface="Space Grotesk" pitchFamily="34" charset="0"/>
                <a:ea typeface="Space Grotesk" pitchFamily="34" charset="-122"/>
                <a:cs typeface="Space Grotesk" pitchFamily="34" charset="-120"/>
              </a:rPr>
              <a:t>My Mobily renewal got stuck. Money was deducted twice. No internet, no response — I switched providers out of frustration, to an option that wasn't even the best one.</a:t>
            </a:r>
            <a:endParaRPr lang="en-US" sz="2600" dirty="0"/>
          </a:p>
        </p:txBody>
      </p:sp>
      <p:sp>
        <p:nvSpPr>
          <p:cNvPr id="5" name="Shape 2"/>
          <p:cNvSpPr/>
          <p:nvPr/>
        </p:nvSpPr>
        <p:spPr>
          <a:xfrm>
            <a:off x="1612900" y="3926841"/>
            <a:ext cx="558800" cy="558800"/>
          </a:xfrm>
          <a:prstGeom prst="roundRect">
            <a:avLst>
              <a:gd name="adj" fmla="val 50000"/>
            </a:avLst>
          </a:prstGeom>
          <a:solidFill>
            <a:srgbClr val="FF3B30"/>
          </a:solidFill>
          <a:ln/>
        </p:spPr>
        <p:txBody>
          <a:bodyPr/>
          <a:lstStyle/>
          <a:p>
            <a:endParaRPr lang="en-US"/>
          </a:p>
        </p:txBody>
      </p:sp>
      <p:sp>
        <p:nvSpPr>
          <p:cNvPr id="6" name="Text 3"/>
          <p:cNvSpPr/>
          <p:nvPr/>
        </p:nvSpPr>
        <p:spPr>
          <a:xfrm>
            <a:off x="1845707" y="4055111"/>
            <a:ext cx="143907"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FFFFF"/>
                </a:solidFill>
                <a:latin typeface="Inter" pitchFamily="34" charset="0"/>
                <a:ea typeface="Inter" pitchFamily="34" charset="-122"/>
                <a:cs typeface="Inter" pitchFamily="34" charset="-120"/>
              </a:rPr>
              <a:t>1</a:t>
            </a:r>
            <a:endParaRPr lang="en-US" sz="1700" dirty="0"/>
          </a:p>
        </p:txBody>
      </p:sp>
      <p:sp>
        <p:nvSpPr>
          <p:cNvPr id="7" name="Text 4"/>
          <p:cNvSpPr/>
          <p:nvPr/>
        </p:nvSpPr>
        <p:spPr>
          <a:xfrm>
            <a:off x="1377156" y="4574541"/>
            <a:ext cx="1030288" cy="22098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14171C"/>
                </a:solidFill>
                <a:latin typeface="Inter" pitchFamily="34" charset="0"/>
                <a:ea typeface="Inter" pitchFamily="34" charset="-122"/>
                <a:cs typeface="Inter" pitchFamily="34" charset="-120"/>
              </a:rPr>
              <a:t>Renewal stuck</a:t>
            </a:r>
            <a:endParaRPr lang="en-US" sz="1100" dirty="0"/>
          </a:p>
        </p:txBody>
      </p:sp>
      <p:pic>
        <p:nvPicPr>
          <p:cNvPr id="8" name="Image 1" descr="arrow-right"/>
          <p:cNvPicPr>
            <a:picLocks noChangeAspect="1"/>
          </p:cNvPicPr>
          <p:nvPr/>
        </p:nvPicPr>
        <p:blipFill>
          <a:blip r:embed="rId4"/>
          <a:srcRect/>
          <a:stretch/>
        </p:blipFill>
        <p:spPr>
          <a:xfrm>
            <a:off x="3073400" y="4208780"/>
            <a:ext cx="279400" cy="279400"/>
          </a:xfrm>
          <a:prstGeom prst="rect">
            <a:avLst/>
          </a:prstGeom>
        </p:spPr>
      </p:pic>
      <p:sp>
        <p:nvSpPr>
          <p:cNvPr id="9" name="Shape 5"/>
          <p:cNvSpPr/>
          <p:nvPr/>
        </p:nvSpPr>
        <p:spPr>
          <a:xfrm>
            <a:off x="4254500" y="3926841"/>
            <a:ext cx="558800" cy="558800"/>
          </a:xfrm>
          <a:prstGeom prst="roundRect">
            <a:avLst>
              <a:gd name="adj" fmla="val 50000"/>
            </a:avLst>
          </a:prstGeom>
          <a:solidFill>
            <a:srgbClr val="FF3B30"/>
          </a:solidFill>
          <a:ln/>
        </p:spPr>
        <p:txBody>
          <a:bodyPr/>
          <a:lstStyle/>
          <a:p>
            <a:endParaRPr lang="en-US"/>
          </a:p>
        </p:txBody>
      </p:sp>
      <p:sp>
        <p:nvSpPr>
          <p:cNvPr id="10" name="Text 6"/>
          <p:cNvSpPr/>
          <p:nvPr/>
        </p:nvSpPr>
        <p:spPr>
          <a:xfrm>
            <a:off x="4465876" y="4055111"/>
            <a:ext cx="186849"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FFFFF"/>
                </a:solidFill>
                <a:latin typeface="Inter" pitchFamily="34" charset="0"/>
                <a:ea typeface="Inter" pitchFamily="34" charset="-122"/>
                <a:cs typeface="Inter" pitchFamily="34" charset="-120"/>
              </a:rPr>
              <a:t>2</a:t>
            </a:r>
            <a:endParaRPr lang="en-US" sz="1700" dirty="0"/>
          </a:p>
        </p:txBody>
      </p:sp>
      <p:sp>
        <p:nvSpPr>
          <p:cNvPr id="11" name="Text 7"/>
          <p:cNvSpPr/>
          <p:nvPr/>
        </p:nvSpPr>
        <p:spPr>
          <a:xfrm>
            <a:off x="4016931" y="4574541"/>
            <a:ext cx="1033939" cy="22098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14171C"/>
                </a:solidFill>
                <a:latin typeface="Inter" pitchFamily="34" charset="0"/>
                <a:ea typeface="Inter" pitchFamily="34" charset="-122"/>
                <a:cs typeface="Inter" pitchFamily="34" charset="-120"/>
              </a:rPr>
              <a:t>Charged twice</a:t>
            </a:r>
            <a:endParaRPr lang="en-US" sz="1100" dirty="0"/>
          </a:p>
        </p:txBody>
      </p:sp>
      <p:pic>
        <p:nvPicPr>
          <p:cNvPr id="12" name="Image 2" descr="arrow-right"/>
          <p:cNvPicPr>
            <a:picLocks noChangeAspect="1"/>
          </p:cNvPicPr>
          <p:nvPr/>
        </p:nvPicPr>
        <p:blipFill>
          <a:blip r:embed="rId4"/>
          <a:srcRect/>
          <a:stretch/>
        </p:blipFill>
        <p:spPr>
          <a:xfrm>
            <a:off x="5715000" y="4208780"/>
            <a:ext cx="279400" cy="279400"/>
          </a:xfrm>
          <a:prstGeom prst="rect">
            <a:avLst/>
          </a:prstGeom>
        </p:spPr>
      </p:pic>
      <p:sp>
        <p:nvSpPr>
          <p:cNvPr id="13" name="Shape 8"/>
          <p:cNvSpPr/>
          <p:nvPr/>
        </p:nvSpPr>
        <p:spPr>
          <a:xfrm>
            <a:off x="6896100" y="3926841"/>
            <a:ext cx="558800" cy="558800"/>
          </a:xfrm>
          <a:prstGeom prst="roundRect">
            <a:avLst>
              <a:gd name="adj" fmla="val 50000"/>
            </a:avLst>
          </a:prstGeom>
          <a:solidFill>
            <a:srgbClr val="FF3B30"/>
          </a:solidFill>
          <a:ln/>
        </p:spPr>
        <p:txBody>
          <a:bodyPr/>
          <a:lstStyle/>
          <a:p>
            <a:endParaRPr lang="en-US"/>
          </a:p>
        </p:txBody>
      </p:sp>
      <p:sp>
        <p:nvSpPr>
          <p:cNvPr id="14" name="Text 9"/>
          <p:cNvSpPr/>
          <p:nvPr/>
        </p:nvSpPr>
        <p:spPr>
          <a:xfrm>
            <a:off x="7105809" y="4055111"/>
            <a:ext cx="190183"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FFFFF"/>
                </a:solidFill>
                <a:latin typeface="Inter" pitchFamily="34" charset="0"/>
                <a:ea typeface="Inter" pitchFamily="34" charset="-122"/>
                <a:cs typeface="Inter" pitchFamily="34" charset="-120"/>
              </a:rPr>
              <a:t>3</a:t>
            </a:r>
            <a:endParaRPr lang="en-US" sz="1700" dirty="0"/>
          </a:p>
        </p:txBody>
      </p:sp>
      <p:sp>
        <p:nvSpPr>
          <p:cNvPr id="15" name="Text 10"/>
          <p:cNvSpPr/>
          <p:nvPr/>
        </p:nvSpPr>
        <p:spPr>
          <a:xfrm>
            <a:off x="6440408" y="4574541"/>
            <a:ext cx="1470184" cy="22098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14171C"/>
                </a:solidFill>
                <a:latin typeface="Inter" pitchFamily="34" charset="0"/>
                <a:ea typeface="Inter" pitchFamily="34" charset="-122"/>
                <a:cs typeface="Inter" pitchFamily="34" charset="-120"/>
              </a:rPr>
              <a:t>No support response</a:t>
            </a:r>
            <a:endParaRPr lang="en-US" sz="1100" dirty="0"/>
          </a:p>
        </p:txBody>
      </p:sp>
      <p:pic>
        <p:nvPicPr>
          <p:cNvPr id="16" name="Image 3" descr="arrow-right"/>
          <p:cNvPicPr>
            <a:picLocks noChangeAspect="1"/>
          </p:cNvPicPr>
          <p:nvPr/>
        </p:nvPicPr>
        <p:blipFill>
          <a:blip r:embed="rId4"/>
          <a:srcRect/>
          <a:stretch/>
        </p:blipFill>
        <p:spPr>
          <a:xfrm>
            <a:off x="8356600" y="4208780"/>
            <a:ext cx="279400" cy="279400"/>
          </a:xfrm>
          <a:prstGeom prst="rect">
            <a:avLst/>
          </a:prstGeom>
        </p:spPr>
      </p:pic>
      <p:sp>
        <p:nvSpPr>
          <p:cNvPr id="17" name="Shape 11"/>
          <p:cNvSpPr/>
          <p:nvPr/>
        </p:nvSpPr>
        <p:spPr>
          <a:xfrm>
            <a:off x="9537700" y="3926841"/>
            <a:ext cx="558800" cy="558800"/>
          </a:xfrm>
          <a:prstGeom prst="roundRect">
            <a:avLst>
              <a:gd name="adj" fmla="val 50000"/>
            </a:avLst>
          </a:prstGeom>
          <a:solidFill>
            <a:srgbClr val="FF3B30"/>
          </a:solidFill>
          <a:ln/>
        </p:spPr>
        <p:txBody>
          <a:bodyPr/>
          <a:lstStyle/>
          <a:p>
            <a:endParaRPr lang="en-US"/>
          </a:p>
        </p:txBody>
      </p:sp>
      <p:sp>
        <p:nvSpPr>
          <p:cNvPr id="18" name="Text 12"/>
          <p:cNvSpPr/>
          <p:nvPr/>
        </p:nvSpPr>
        <p:spPr>
          <a:xfrm>
            <a:off x="9744075" y="4055111"/>
            <a:ext cx="196850"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FFFFF"/>
                </a:solidFill>
                <a:latin typeface="Inter" pitchFamily="34" charset="0"/>
                <a:ea typeface="Inter" pitchFamily="34" charset="-122"/>
                <a:cs typeface="Inter" pitchFamily="34" charset="-120"/>
              </a:rPr>
              <a:t>4</a:t>
            </a:r>
            <a:endParaRPr lang="en-US" sz="1700" dirty="0"/>
          </a:p>
        </p:txBody>
      </p:sp>
      <p:sp>
        <p:nvSpPr>
          <p:cNvPr id="19" name="Text 13"/>
          <p:cNvSpPr/>
          <p:nvPr/>
        </p:nvSpPr>
        <p:spPr>
          <a:xfrm>
            <a:off x="8731949" y="4574541"/>
            <a:ext cx="2170301" cy="22098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14171C"/>
                </a:solidFill>
                <a:latin typeface="Inter" pitchFamily="34" charset="0"/>
                <a:ea typeface="Inter" pitchFamily="34" charset="-122"/>
                <a:cs typeface="Inter" pitchFamily="34" charset="-120"/>
              </a:rPr>
              <a:t>Switched — not the best option</a:t>
            </a:r>
            <a:endParaRPr lang="en-US" sz="1100" dirty="0"/>
          </a:p>
        </p:txBody>
      </p:sp>
      <p:sp>
        <p:nvSpPr>
          <p:cNvPr id="20" name="Text 14"/>
          <p:cNvSpPr/>
          <p:nvPr/>
        </p:nvSpPr>
        <p:spPr>
          <a:xfrm>
            <a:off x="812800" y="6238239"/>
            <a:ext cx="3721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6A63"/>
                </a:solidFill>
                <a:latin typeface="Inter" pitchFamily="34" charset="0"/>
                <a:ea typeface="Inter" pitchFamily="34" charset="-122"/>
                <a:cs typeface="Inter" pitchFamily="34" charset="-120"/>
              </a:rPr>
              <a:t>Wafi</a:t>
            </a:r>
            <a:endParaRPr lang="en-US" sz="1200" dirty="0"/>
          </a:p>
        </p:txBody>
      </p:sp>
      <p:sp>
        <p:nvSpPr>
          <p:cNvPr id="21" name="Text 15"/>
          <p:cNvSpPr/>
          <p:nvPr/>
        </p:nvSpPr>
        <p:spPr>
          <a:xfrm>
            <a:off x="11280696" y="6238239"/>
            <a:ext cx="14930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6A63"/>
                </a:solidFill>
                <a:latin typeface="Inter" pitchFamily="34" charset="0"/>
                <a:ea typeface="Inter" pitchFamily="34" charset="-122"/>
                <a:cs typeface="Inte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557FF"/>
        </a:solidFill>
        <a:effectLst/>
      </p:bgPr>
    </p:bg>
    <p:spTree>
      <p:nvGrpSpPr>
        <p:cNvPr id="1" name=""/>
        <p:cNvGrpSpPr/>
        <p:nvPr/>
      </p:nvGrpSpPr>
      <p:grpSpPr>
        <a:xfrm>
          <a:off x="0" y="0"/>
          <a:ext cx="0" cy="0"/>
          <a:chOff x="0" y="0"/>
          <a:chExt cx="0" cy="0"/>
        </a:xfrm>
      </p:grpSpPr>
      <p:pic>
        <p:nvPicPr>
          <p:cNvPr id="3" name="Image 1" descr="ellipse"/>
          <p:cNvPicPr>
            <a:picLocks noChangeAspect="1"/>
          </p:cNvPicPr>
          <p:nvPr/>
        </p:nvPicPr>
        <p:blipFill>
          <a:blip r:embed="rId3"/>
          <a:srcRect/>
          <a:stretch/>
        </p:blipFill>
        <p:spPr>
          <a:xfrm>
            <a:off x="1016000" y="889000"/>
            <a:ext cx="228600" cy="228600"/>
          </a:xfrm>
          <a:prstGeom prst="rect">
            <a:avLst/>
          </a:prstGeom>
        </p:spPr>
      </p:pic>
      <p:pic>
        <p:nvPicPr>
          <p:cNvPr id="4" name="Image 2" descr="rect"/>
          <p:cNvPicPr>
            <a:picLocks noChangeAspect="1"/>
          </p:cNvPicPr>
          <p:nvPr/>
        </p:nvPicPr>
        <p:blipFill>
          <a:blip r:embed="rId4"/>
          <a:srcRect/>
          <a:stretch/>
        </p:blipFill>
        <p:spPr>
          <a:xfrm>
            <a:off x="812800" y="2667000"/>
            <a:ext cx="203200" cy="38100"/>
          </a:xfrm>
          <a:prstGeom prst="rect">
            <a:avLst/>
          </a:prstGeom>
        </p:spPr>
      </p:pic>
      <p:sp>
        <p:nvSpPr>
          <p:cNvPr id="5" name="Text 0"/>
          <p:cNvSpPr/>
          <p:nvPr/>
        </p:nvSpPr>
        <p:spPr>
          <a:xfrm>
            <a:off x="1104900" y="2579371"/>
            <a:ext cx="2842338"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FFFF"/>
                </a:solidFill>
                <a:latin typeface="Inter" pitchFamily="34" charset="0"/>
                <a:ea typeface="Inter" pitchFamily="34" charset="-122"/>
                <a:cs typeface="Inter" pitchFamily="34" charset="-120"/>
              </a:rPr>
              <a:t>FROM PROBLEM TO SOLUTION</a:t>
            </a:r>
            <a:endParaRPr lang="en-US" sz="1200" dirty="0"/>
          </a:p>
        </p:txBody>
      </p:sp>
      <p:sp>
        <p:nvSpPr>
          <p:cNvPr id="6" name="Text 1"/>
          <p:cNvSpPr/>
          <p:nvPr/>
        </p:nvSpPr>
        <p:spPr>
          <a:xfrm>
            <a:off x="666274" y="2794000"/>
            <a:ext cx="9810750" cy="1310640"/>
          </a:xfrm>
          <a:prstGeom prst="rect">
            <a:avLst/>
          </a:prstGeom>
          <a:noFill/>
          <a:ln/>
        </p:spPr>
        <p:txBody>
          <a:bodyPr wrap="square" lIns="0" tIns="0" rIns="0" bIns="0" rtlCol="0" anchor="t">
            <a:normAutofit/>
          </a:bodyPr>
          <a:lstStyle/>
          <a:p>
            <a:pPr marL="0" indent="0" algn="l">
              <a:lnSpc>
                <a:spcPts val="5060"/>
              </a:lnSpc>
              <a:buNone/>
            </a:pPr>
            <a:r>
              <a:rPr lang="en-US" sz="4400" b="1" dirty="0">
                <a:solidFill>
                  <a:srgbClr val="FFFFFF"/>
                </a:solidFill>
                <a:latin typeface="Space Grotesk" pitchFamily="34" charset="0"/>
                <a:ea typeface="Space Grotesk" pitchFamily="34" charset="-122"/>
                <a:cs typeface="Space Grotesk" pitchFamily="34" charset="-120"/>
              </a:rPr>
              <a:t>That experience is exactly what Wafi is built to prevent.</a:t>
            </a:r>
            <a:endParaRPr lang="en-US" sz="4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a:stretch/>
        </p:blipFill>
        <p:spPr>
          <a:xfrm>
            <a:off x="812800" y="891539"/>
            <a:ext cx="203200" cy="38100"/>
          </a:xfrm>
          <a:prstGeom prst="rect">
            <a:avLst/>
          </a:prstGeom>
        </p:spPr>
      </p:pic>
      <p:sp>
        <p:nvSpPr>
          <p:cNvPr id="3" name="Text 0"/>
          <p:cNvSpPr/>
          <p:nvPr/>
        </p:nvSpPr>
        <p:spPr>
          <a:xfrm>
            <a:off x="1104900" y="812800"/>
            <a:ext cx="1321911" cy="220980"/>
          </a:xfrm>
          <a:prstGeom prst="rect">
            <a:avLst/>
          </a:prstGeom>
          <a:noFill/>
          <a:ln/>
        </p:spPr>
        <p:txBody>
          <a:bodyPr wrap="square" lIns="0" tIns="0" rIns="0" bIns="0" rtlCol="0" anchor="t">
            <a:normAutofit/>
          </a:bodyPr>
          <a:lstStyle/>
          <a:p>
            <a:pPr marL="0" indent="0" algn="l">
              <a:lnSpc>
                <a:spcPts val="1540"/>
              </a:lnSpc>
              <a:buNone/>
            </a:pPr>
            <a:r>
              <a:rPr lang="en-US" sz="1100" b="1" kern="0" spc="150" dirty="0">
                <a:solidFill>
                  <a:srgbClr val="3557FF"/>
                </a:solidFill>
                <a:latin typeface="Inter" pitchFamily="34" charset="0"/>
                <a:ea typeface="Inter" pitchFamily="34" charset="-122"/>
                <a:cs typeface="Inter" pitchFamily="34" charset="-120"/>
              </a:rPr>
              <a:t>THE SOLUTION</a:t>
            </a:r>
            <a:endParaRPr lang="en-US" sz="1100" dirty="0"/>
          </a:p>
        </p:txBody>
      </p:sp>
      <p:sp>
        <p:nvSpPr>
          <p:cNvPr id="4" name="Text 1"/>
          <p:cNvSpPr/>
          <p:nvPr/>
        </p:nvSpPr>
        <p:spPr>
          <a:xfrm>
            <a:off x="812800" y="1262382"/>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dirty="0">
                <a:solidFill>
                  <a:srgbClr val="14171C"/>
                </a:solidFill>
                <a:latin typeface="Space Grotesk" pitchFamily="34" charset="0"/>
                <a:ea typeface="Space Grotesk" pitchFamily="34" charset="-122"/>
                <a:cs typeface="Space Grotesk" pitchFamily="34" charset="-120"/>
              </a:rPr>
              <a:t>Five core features, all backed by real AI</a:t>
            </a:r>
            <a:endParaRPr lang="en-US" sz="3000" dirty="0"/>
          </a:p>
        </p:txBody>
      </p:sp>
      <p:sp>
        <p:nvSpPr>
          <p:cNvPr id="5" name="Shape 2"/>
          <p:cNvSpPr/>
          <p:nvPr/>
        </p:nvSpPr>
        <p:spPr>
          <a:xfrm>
            <a:off x="812800" y="1954532"/>
            <a:ext cx="2011680" cy="3887470"/>
          </a:xfrm>
          <a:prstGeom prst="roundRect">
            <a:avLst>
              <a:gd name="adj" fmla="val 6313"/>
            </a:avLst>
          </a:prstGeom>
          <a:solidFill>
            <a:srgbClr val="FFFFFF"/>
          </a:solidFill>
          <a:ln/>
        </p:spPr>
        <p:txBody>
          <a:bodyPr/>
          <a:lstStyle/>
          <a:p>
            <a:endParaRPr lang="en-US"/>
          </a:p>
        </p:txBody>
      </p:sp>
      <p:sp>
        <p:nvSpPr>
          <p:cNvPr id="6" name="Shape 3"/>
          <p:cNvSpPr/>
          <p:nvPr/>
        </p:nvSpPr>
        <p:spPr>
          <a:xfrm>
            <a:off x="990600" y="2132332"/>
            <a:ext cx="304800" cy="304800"/>
          </a:xfrm>
          <a:prstGeom prst="roundRect">
            <a:avLst>
              <a:gd name="adj" fmla="val 50000"/>
            </a:avLst>
          </a:prstGeom>
          <a:solidFill>
            <a:srgbClr val="3557FF"/>
          </a:solidFill>
          <a:ln/>
        </p:spPr>
        <p:txBody>
          <a:bodyPr/>
          <a:lstStyle/>
          <a:p>
            <a:endParaRPr lang="en-US"/>
          </a:p>
        </p:txBody>
      </p:sp>
      <p:sp>
        <p:nvSpPr>
          <p:cNvPr id="7" name="Text 4"/>
          <p:cNvSpPr/>
          <p:nvPr/>
        </p:nvSpPr>
        <p:spPr>
          <a:xfrm>
            <a:off x="1115616" y="2195832"/>
            <a:ext cx="105569" cy="203200"/>
          </a:xfrm>
          <a:prstGeom prst="rect">
            <a:avLst/>
          </a:prstGeom>
          <a:noFill/>
          <a:ln/>
        </p:spPr>
        <p:txBody>
          <a:bodyPr wrap="square" lIns="0" tIns="0" rIns="0" bIns="0" rtlCol="0" anchor="t">
            <a:normAutofit/>
          </a:bodyPr>
          <a:lstStyle/>
          <a:p>
            <a:pPr marL="0" indent="0" algn="l">
              <a:lnSpc>
                <a:spcPts val="1400"/>
              </a:lnSpc>
              <a:buNone/>
            </a:pPr>
            <a:r>
              <a:rPr lang="en-US" sz="1000" b="1" dirty="0">
                <a:solidFill>
                  <a:srgbClr val="FFFFFF"/>
                </a:solidFill>
                <a:latin typeface="Inter" pitchFamily="34" charset="0"/>
                <a:ea typeface="Inter" pitchFamily="34" charset="-122"/>
                <a:cs typeface="Inter" pitchFamily="34" charset="-120"/>
              </a:rPr>
              <a:t>1</a:t>
            </a:r>
            <a:endParaRPr lang="en-US" sz="1000" dirty="0"/>
          </a:p>
        </p:txBody>
      </p:sp>
      <p:sp>
        <p:nvSpPr>
          <p:cNvPr id="8" name="Text 5"/>
          <p:cNvSpPr/>
          <p:nvPr/>
        </p:nvSpPr>
        <p:spPr>
          <a:xfrm>
            <a:off x="990600" y="3806825"/>
            <a:ext cx="1706880" cy="193040"/>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14171C"/>
                </a:solidFill>
                <a:latin typeface="Inter" pitchFamily="34" charset="0"/>
                <a:ea typeface="Inter" pitchFamily="34" charset="-122"/>
                <a:cs typeface="Inter" pitchFamily="34" charset="-120"/>
              </a:rPr>
              <a:t>Subscription Tracking</a:t>
            </a:r>
            <a:endParaRPr lang="en-US" sz="1100" dirty="0"/>
          </a:p>
        </p:txBody>
      </p:sp>
      <p:sp>
        <p:nvSpPr>
          <p:cNvPr id="9" name="Text 6"/>
          <p:cNvSpPr/>
          <p:nvPr/>
        </p:nvSpPr>
        <p:spPr>
          <a:xfrm>
            <a:off x="990600" y="5344161"/>
            <a:ext cx="1706880" cy="345440"/>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6B7280"/>
                </a:solidFill>
                <a:latin typeface="Inter" pitchFamily="34" charset="0"/>
                <a:ea typeface="Inter" pitchFamily="34" charset="-122"/>
                <a:cs typeface="Inter" pitchFamily="34" charset="-120"/>
              </a:rPr>
              <a:t>One place for every plan, every provider.</a:t>
            </a:r>
            <a:endParaRPr lang="en-US" sz="900" dirty="0"/>
          </a:p>
        </p:txBody>
      </p:sp>
      <p:sp>
        <p:nvSpPr>
          <p:cNvPr id="10" name="Shape 7"/>
          <p:cNvSpPr/>
          <p:nvPr/>
        </p:nvSpPr>
        <p:spPr>
          <a:xfrm>
            <a:off x="2951480" y="1954532"/>
            <a:ext cx="2011680" cy="3887470"/>
          </a:xfrm>
          <a:prstGeom prst="roundRect">
            <a:avLst>
              <a:gd name="adj" fmla="val 6313"/>
            </a:avLst>
          </a:prstGeom>
          <a:solidFill>
            <a:srgbClr val="FFFFFF"/>
          </a:solidFill>
          <a:ln/>
        </p:spPr>
        <p:txBody>
          <a:bodyPr/>
          <a:lstStyle/>
          <a:p>
            <a:endParaRPr lang="en-US"/>
          </a:p>
        </p:txBody>
      </p:sp>
      <p:sp>
        <p:nvSpPr>
          <p:cNvPr id="11" name="Shape 8"/>
          <p:cNvSpPr/>
          <p:nvPr/>
        </p:nvSpPr>
        <p:spPr>
          <a:xfrm>
            <a:off x="3129280" y="2132332"/>
            <a:ext cx="304800" cy="304800"/>
          </a:xfrm>
          <a:prstGeom prst="roundRect">
            <a:avLst>
              <a:gd name="adj" fmla="val 50000"/>
            </a:avLst>
          </a:prstGeom>
          <a:solidFill>
            <a:srgbClr val="FF5C1F"/>
          </a:solidFill>
          <a:ln/>
        </p:spPr>
        <p:txBody>
          <a:bodyPr/>
          <a:lstStyle/>
          <a:p>
            <a:endParaRPr lang="en-US"/>
          </a:p>
        </p:txBody>
      </p:sp>
      <p:sp>
        <p:nvSpPr>
          <p:cNvPr id="12" name="Text 9"/>
          <p:cNvSpPr/>
          <p:nvPr/>
        </p:nvSpPr>
        <p:spPr>
          <a:xfrm>
            <a:off x="3241675" y="2195832"/>
            <a:ext cx="130810" cy="203200"/>
          </a:xfrm>
          <a:prstGeom prst="rect">
            <a:avLst/>
          </a:prstGeom>
          <a:noFill/>
          <a:ln/>
        </p:spPr>
        <p:txBody>
          <a:bodyPr wrap="square" lIns="0" tIns="0" rIns="0" bIns="0" rtlCol="0" anchor="t">
            <a:normAutofit/>
          </a:bodyPr>
          <a:lstStyle/>
          <a:p>
            <a:pPr marL="0" indent="0" algn="l">
              <a:lnSpc>
                <a:spcPts val="1400"/>
              </a:lnSpc>
              <a:buNone/>
            </a:pPr>
            <a:r>
              <a:rPr lang="en-US" sz="1000" b="1" dirty="0">
                <a:solidFill>
                  <a:srgbClr val="FFFFFF"/>
                </a:solidFill>
                <a:latin typeface="Inter" pitchFamily="34" charset="0"/>
                <a:ea typeface="Inter" pitchFamily="34" charset="-122"/>
                <a:cs typeface="Inter" pitchFamily="34" charset="-120"/>
              </a:rPr>
              <a:t>2</a:t>
            </a:r>
            <a:endParaRPr lang="en-US" sz="1000" dirty="0"/>
          </a:p>
        </p:txBody>
      </p:sp>
      <p:sp>
        <p:nvSpPr>
          <p:cNvPr id="13" name="Text 10"/>
          <p:cNvSpPr/>
          <p:nvPr/>
        </p:nvSpPr>
        <p:spPr>
          <a:xfrm>
            <a:off x="3129280" y="3806825"/>
            <a:ext cx="1706880" cy="193040"/>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14171C"/>
                </a:solidFill>
                <a:latin typeface="Inter" pitchFamily="34" charset="0"/>
                <a:ea typeface="Inter" pitchFamily="34" charset="-122"/>
                <a:cs typeface="Inter" pitchFamily="34" charset="-120"/>
              </a:rPr>
              <a:t>Expiry Alerts + AI</a:t>
            </a:r>
            <a:endParaRPr lang="en-US" sz="1100" dirty="0"/>
          </a:p>
        </p:txBody>
      </p:sp>
      <p:sp>
        <p:nvSpPr>
          <p:cNvPr id="14" name="Text 11"/>
          <p:cNvSpPr/>
          <p:nvPr/>
        </p:nvSpPr>
        <p:spPr>
          <a:xfrm>
            <a:off x="3129280" y="5344161"/>
            <a:ext cx="1706880" cy="345440"/>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6B7280"/>
                </a:solidFill>
                <a:latin typeface="Inter" pitchFamily="34" charset="0"/>
                <a:ea typeface="Inter" pitchFamily="34" charset="-122"/>
                <a:cs typeface="Inter" pitchFamily="34" charset="-120"/>
              </a:rPr>
              <a:t>Warned early, with a real alternative.</a:t>
            </a:r>
            <a:endParaRPr lang="en-US" sz="900" dirty="0"/>
          </a:p>
        </p:txBody>
      </p:sp>
      <p:sp>
        <p:nvSpPr>
          <p:cNvPr id="15" name="Shape 12"/>
          <p:cNvSpPr/>
          <p:nvPr/>
        </p:nvSpPr>
        <p:spPr>
          <a:xfrm>
            <a:off x="5090160" y="1954532"/>
            <a:ext cx="2011680" cy="3887470"/>
          </a:xfrm>
          <a:prstGeom prst="roundRect">
            <a:avLst>
              <a:gd name="adj" fmla="val 6313"/>
            </a:avLst>
          </a:prstGeom>
          <a:solidFill>
            <a:srgbClr val="FFFFFF"/>
          </a:solidFill>
          <a:ln/>
        </p:spPr>
        <p:txBody>
          <a:bodyPr/>
          <a:lstStyle/>
          <a:p>
            <a:endParaRPr lang="en-US"/>
          </a:p>
        </p:txBody>
      </p:sp>
      <p:sp>
        <p:nvSpPr>
          <p:cNvPr id="16" name="Shape 13"/>
          <p:cNvSpPr/>
          <p:nvPr/>
        </p:nvSpPr>
        <p:spPr>
          <a:xfrm>
            <a:off x="5267960" y="2132332"/>
            <a:ext cx="304800" cy="304800"/>
          </a:xfrm>
          <a:prstGeom prst="roundRect">
            <a:avLst>
              <a:gd name="adj" fmla="val 50000"/>
            </a:avLst>
          </a:prstGeom>
          <a:solidFill>
            <a:srgbClr val="00B892"/>
          </a:solidFill>
          <a:ln/>
        </p:spPr>
        <p:txBody>
          <a:bodyPr/>
          <a:lstStyle/>
          <a:p>
            <a:endParaRPr lang="en-US"/>
          </a:p>
        </p:txBody>
      </p:sp>
      <p:sp>
        <p:nvSpPr>
          <p:cNvPr id="17" name="Text 14"/>
          <p:cNvSpPr/>
          <p:nvPr/>
        </p:nvSpPr>
        <p:spPr>
          <a:xfrm>
            <a:off x="5379323" y="2195832"/>
            <a:ext cx="132794" cy="203200"/>
          </a:xfrm>
          <a:prstGeom prst="rect">
            <a:avLst/>
          </a:prstGeom>
          <a:noFill/>
          <a:ln/>
        </p:spPr>
        <p:txBody>
          <a:bodyPr wrap="square" lIns="0" tIns="0" rIns="0" bIns="0" rtlCol="0" anchor="t">
            <a:normAutofit/>
          </a:bodyPr>
          <a:lstStyle/>
          <a:p>
            <a:pPr marL="0" indent="0" algn="l">
              <a:lnSpc>
                <a:spcPts val="1400"/>
              </a:lnSpc>
              <a:buNone/>
            </a:pPr>
            <a:r>
              <a:rPr lang="en-US" sz="1000" b="1" dirty="0">
                <a:solidFill>
                  <a:srgbClr val="FFFFFF"/>
                </a:solidFill>
                <a:latin typeface="Inter" pitchFamily="34" charset="0"/>
                <a:ea typeface="Inter" pitchFamily="34" charset="-122"/>
                <a:cs typeface="Inter" pitchFamily="34" charset="-120"/>
              </a:rPr>
              <a:t>3</a:t>
            </a:r>
            <a:endParaRPr lang="en-US" sz="1000" dirty="0"/>
          </a:p>
        </p:txBody>
      </p:sp>
      <p:sp>
        <p:nvSpPr>
          <p:cNvPr id="18" name="Text 15"/>
          <p:cNvSpPr/>
          <p:nvPr/>
        </p:nvSpPr>
        <p:spPr>
          <a:xfrm>
            <a:off x="5267960" y="3806825"/>
            <a:ext cx="1706880" cy="193040"/>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14171C"/>
                </a:solidFill>
                <a:latin typeface="Inter" pitchFamily="34" charset="0"/>
                <a:ea typeface="Inter" pitchFamily="34" charset="-122"/>
                <a:cs typeface="Inter" pitchFamily="34" charset="-120"/>
              </a:rPr>
              <a:t>AI Issue Resolver</a:t>
            </a:r>
            <a:endParaRPr lang="en-US" sz="1100" dirty="0"/>
          </a:p>
        </p:txBody>
      </p:sp>
      <p:sp>
        <p:nvSpPr>
          <p:cNvPr id="19" name="Text 16"/>
          <p:cNvSpPr/>
          <p:nvPr/>
        </p:nvSpPr>
        <p:spPr>
          <a:xfrm>
            <a:off x="5267960" y="5344161"/>
            <a:ext cx="1706880" cy="345440"/>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6B7280"/>
                </a:solidFill>
                <a:latin typeface="Inter" pitchFamily="34" charset="0"/>
                <a:ea typeface="Inter" pitchFamily="34" charset="-122"/>
                <a:cs typeface="Inter" pitchFamily="34" charset="-120"/>
              </a:rPr>
              <a:t>Instant first response, not silence.</a:t>
            </a:r>
            <a:endParaRPr lang="en-US" sz="900" dirty="0"/>
          </a:p>
        </p:txBody>
      </p:sp>
      <p:sp>
        <p:nvSpPr>
          <p:cNvPr id="20" name="Shape 17"/>
          <p:cNvSpPr/>
          <p:nvPr/>
        </p:nvSpPr>
        <p:spPr>
          <a:xfrm>
            <a:off x="7228840" y="1954532"/>
            <a:ext cx="2011680" cy="3887470"/>
          </a:xfrm>
          <a:prstGeom prst="roundRect">
            <a:avLst>
              <a:gd name="adj" fmla="val 6313"/>
            </a:avLst>
          </a:prstGeom>
          <a:solidFill>
            <a:srgbClr val="FFFFFF"/>
          </a:solidFill>
          <a:ln/>
        </p:spPr>
        <p:txBody>
          <a:bodyPr/>
          <a:lstStyle/>
          <a:p>
            <a:endParaRPr lang="en-US"/>
          </a:p>
        </p:txBody>
      </p:sp>
      <p:sp>
        <p:nvSpPr>
          <p:cNvPr id="21" name="Shape 18"/>
          <p:cNvSpPr/>
          <p:nvPr/>
        </p:nvSpPr>
        <p:spPr>
          <a:xfrm>
            <a:off x="7406640" y="2132332"/>
            <a:ext cx="304800" cy="304800"/>
          </a:xfrm>
          <a:prstGeom prst="roundRect">
            <a:avLst>
              <a:gd name="adj" fmla="val 50000"/>
            </a:avLst>
          </a:prstGeom>
          <a:solidFill>
            <a:srgbClr val="3557FF"/>
          </a:solidFill>
          <a:ln/>
        </p:spPr>
        <p:txBody>
          <a:bodyPr/>
          <a:lstStyle/>
          <a:p>
            <a:endParaRPr lang="en-US"/>
          </a:p>
        </p:txBody>
      </p:sp>
      <p:sp>
        <p:nvSpPr>
          <p:cNvPr id="22" name="Text 19"/>
          <p:cNvSpPr/>
          <p:nvPr/>
        </p:nvSpPr>
        <p:spPr>
          <a:xfrm>
            <a:off x="7516019" y="2195832"/>
            <a:ext cx="136763" cy="203200"/>
          </a:xfrm>
          <a:prstGeom prst="rect">
            <a:avLst/>
          </a:prstGeom>
          <a:noFill/>
          <a:ln/>
        </p:spPr>
        <p:txBody>
          <a:bodyPr wrap="square" lIns="0" tIns="0" rIns="0" bIns="0" rtlCol="0" anchor="t">
            <a:normAutofit/>
          </a:bodyPr>
          <a:lstStyle/>
          <a:p>
            <a:pPr marL="0" indent="0" algn="l">
              <a:lnSpc>
                <a:spcPts val="1400"/>
              </a:lnSpc>
              <a:buNone/>
            </a:pPr>
            <a:r>
              <a:rPr lang="en-US" sz="1000" b="1" dirty="0">
                <a:solidFill>
                  <a:srgbClr val="FFFFFF"/>
                </a:solidFill>
                <a:latin typeface="Inter" pitchFamily="34" charset="0"/>
                <a:ea typeface="Inter" pitchFamily="34" charset="-122"/>
                <a:cs typeface="Inter" pitchFamily="34" charset="-120"/>
              </a:rPr>
              <a:t>4</a:t>
            </a:r>
            <a:endParaRPr lang="en-US" sz="1000" dirty="0"/>
          </a:p>
        </p:txBody>
      </p:sp>
      <p:sp>
        <p:nvSpPr>
          <p:cNvPr id="23" name="Text 20"/>
          <p:cNvSpPr/>
          <p:nvPr/>
        </p:nvSpPr>
        <p:spPr>
          <a:xfrm>
            <a:off x="7406640" y="3806825"/>
            <a:ext cx="1706880" cy="193040"/>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14171C"/>
                </a:solidFill>
                <a:latin typeface="Inter" pitchFamily="34" charset="0"/>
                <a:ea typeface="Inter" pitchFamily="34" charset="-122"/>
                <a:cs typeface="Inter" pitchFamily="34" charset="-120"/>
              </a:rPr>
              <a:t>Budget Recommender</a:t>
            </a:r>
            <a:endParaRPr lang="en-US" sz="1100" dirty="0"/>
          </a:p>
        </p:txBody>
      </p:sp>
      <p:sp>
        <p:nvSpPr>
          <p:cNvPr id="24" name="Text 21"/>
          <p:cNvSpPr/>
          <p:nvPr/>
        </p:nvSpPr>
        <p:spPr>
          <a:xfrm>
            <a:off x="7406640" y="5344161"/>
            <a:ext cx="1706880" cy="345440"/>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6B7280"/>
                </a:solidFill>
                <a:latin typeface="Inter" pitchFamily="34" charset="0"/>
                <a:ea typeface="Inter" pitchFamily="34" charset="-122"/>
                <a:cs typeface="Inter" pitchFamily="34" charset="-120"/>
              </a:rPr>
              <a:t>A real plan that fits a real budget.</a:t>
            </a:r>
            <a:endParaRPr lang="en-US" sz="900" dirty="0"/>
          </a:p>
        </p:txBody>
      </p:sp>
      <p:sp>
        <p:nvSpPr>
          <p:cNvPr id="25" name="Shape 22"/>
          <p:cNvSpPr/>
          <p:nvPr/>
        </p:nvSpPr>
        <p:spPr>
          <a:xfrm>
            <a:off x="9367520" y="1954532"/>
            <a:ext cx="2011680" cy="3887470"/>
          </a:xfrm>
          <a:prstGeom prst="roundRect">
            <a:avLst>
              <a:gd name="adj" fmla="val 6313"/>
            </a:avLst>
          </a:prstGeom>
          <a:solidFill>
            <a:srgbClr val="FFFFFF"/>
          </a:solidFill>
          <a:ln/>
        </p:spPr>
        <p:txBody>
          <a:bodyPr/>
          <a:lstStyle/>
          <a:p>
            <a:endParaRPr lang="en-US"/>
          </a:p>
        </p:txBody>
      </p:sp>
      <p:sp>
        <p:nvSpPr>
          <p:cNvPr id="26" name="Shape 23"/>
          <p:cNvSpPr/>
          <p:nvPr/>
        </p:nvSpPr>
        <p:spPr>
          <a:xfrm>
            <a:off x="9545320" y="2132332"/>
            <a:ext cx="304800" cy="304800"/>
          </a:xfrm>
          <a:prstGeom prst="roundRect">
            <a:avLst>
              <a:gd name="adj" fmla="val 50000"/>
            </a:avLst>
          </a:prstGeom>
          <a:solidFill>
            <a:srgbClr val="FF5C1F"/>
          </a:solidFill>
          <a:ln/>
        </p:spPr>
        <p:txBody>
          <a:bodyPr/>
          <a:lstStyle/>
          <a:p>
            <a:endParaRPr lang="en-US"/>
          </a:p>
        </p:txBody>
      </p:sp>
      <p:sp>
        <p:nvSpPr>
          <p:cNvPr id="27" name="Text 24"/>
          <p:cNvSpPr/>
          <p:nvPr/>
        </p:nvSpPr>
        <p:spPr>
          <a:xfrm>
            <a:off x="9658191" y="2195832"/>
            <a:ext cx="129857" cy="203200"/>
          </a:xfrm>
          <a:prstGeom prst="rect">
            <a:avLst/>
          </a:prstGeom>
          <a:noFill/>
          <a:ln/>
        </p:spPr>
        <p:txBody>
          <a:bodyPr wrap="square" lIns="0" tIns="0" rIns="0" bIns="0" rtlCol="0" anchor="t">
            <a:normAutofit/>
          </a:bodyPr>
          <a:lstStyle/>
          <a:p>
            <a:pPr marL="0" indent="0" algn="l">
              <a:lnSpc>
                <a:spcPts val="1400"/>
              </a:lnSpc>
              <a:buNone/>
            </a:pPr>
            <a:r>
              <a:rPr lang="en-US" sz="1000" b="1" dirty="0">
                <a:solidFill>
                  <a:srgbClr val="FFFFFF"/>
                </a:solidFill>
                <a:latin typeface="Inter" pitchFamily="34" charset="0"/>
                <a:ea typeface="Inter" pitchFamily="34" charset="-122"/>
                <a:cs typeface="Inter" pitchFamily="34" charset="-120"/>
              </a:rPr>
              <a:t>5</a:t>
            </a:r>
            <a:endParaRPr lang="en-US" sz="1000" dirty="0"/>
          </a:p>
        </p:txBody>
      </p:sp>
      <p:sp>
        <p:nvSpPr>
          <p:cNvPr id="28" name="Text 25"/>
          <p:cNvSpPr/>
          <p:nvPr/>
        </p:nvSpPr>
        <p:spPr>
          <a:xfrm>
            <a:off x="9545320" y="3806825"/>
            <a:ext cx="1706880" cy="193040"/>
          </a:xfrm>
          <a:prstGeom prst="rect">
            <a:avLst/>
          </a:prstGeom>
          <a:noFill/>
          <a:ln/>
        </p:spPr>
        <p:txBody>
          <a:bodyPr wrap="square" lIns="0" tIns="0" rIns="0" bIns="0" rtlCol="0" anchor="t">
            <a:normAutofit/>
          </a:bodyPr>
          <a:lstStyle/>
          <a:p>
            <a:pPr marL="0" indent="0" algn="l">
              <a:lnSpc>
                <a:spcPts val="1320"/>
              </a:lnSpc>
              <a:buNone/>
            </a:pPr>
            <a:r>
              <a:rPr lang="en-US" sz="1100" b="1" dirty="0">
                <a:solidFill>
                  <a:srgbClr val="14171C"/>
                </a:solidFill>
                <a:latin typeface="Inter" pitchFamily="34" charset="0"/>
                <a:ea typeface="Inter" pitchFamily="34" charset="-122"/>
                <a:cs typeface="Inter" pitchFamily="34" charset="-120"/>
              </a:rPr>
              <a:t>Smart Classification</a:t>
            </a:r>
            <a:endParaRPr lang="en-US" sz="1100" dirty="0"/>
          </a:p>
        </p:txBody>
      </p:sp>
      <p:sp>
        <p:nvSpPr>
          <p:cNvPr id="29" name="Text 26"/>
          <p:cNvSpPr/>
          <p:nvPr/>
        </p:nvSpPr>
        <p:spPr>
          <a:xfrm>
            <a:off x="9545320" y="5344161"/>
            <a:ext cx="1706880" cy="345440"/>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6B7280"/>
                </a:solidFill>
                <a:latin typeface="Inter" pitchFamily="34" charset="0"/>
                <a:ea typeface="Inter" pitchFamily="34" charset="-122"/>
                <a:cs typeface="Inter" pitchFamily="34" charset="-120"/>
              </a:rPr>
              <a:t>VIP, at-risk, inactive — spotted early.</a:t>
            </a:r>
            <a:endParaRPr lang="en-US" sz="900" dirty="0"/>
          </a:p>
        </p:txBody>
      </p:sp>
      <p:sp>
        <p:nvSpPr>
          <p:cNvPr id="30" name="Text 27"/>
          <p:cNvSpPr/>
          <p:nvPr/>
        </p:nvSpPr>
        <p:spPr>
          <a:xfrm>
            <a:off x="812800" y="6238239"/>
            <a:ext cx="3721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Wafi</a:t>
            </a:r>
            <a:endParaRPr lang="en-US" sz="1200" dirty="0"/>
          </a:p>
        </p:txBody>
      </p:sp>
      <p:sp>
        <p:nvSpPr>
          <p:cNvPr id="31" name="Text 28"/>
          <p:cNvSpPr/>
          <p:nvPr/>
        </p:nvSpPr>
        <p:spPr>
          <a:xfrm>
            <a:off x="11284665" y="6238239"/>
            <a:ext cx="14533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0"/>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a:stretch/>
        </p:blipFill>
        <p:spPr>
          <a:xfrm>
            <a:off x="812800" y="1906271"/>
            <a:ext cx="203200" cy="38100"/>
          </a:xfrm>
          <a:prstGeom prst="rect">
            <a:avLst/>
          </a:prstGeom>
        </p:spPr>
      </p:pic>
      <p:sp>
        <p:nvSpPr>
          <p:cNvPr id="3" name="Text 0"/>
          <p:cNvSpPr/>
          <p:nvPr/>
        </p:nvSpPr>
        <p:spPr>
          <a:xfrm>
            <a:off x="1104900" y="1827532"/>
            <a:ext cx="1384379" cy="220980"/>
          </a:xfrm>
          <a:prstGeom prst="rect">
            <a:avLst/>
          </a:prstGeom>
          <a:noFill/>
          <a:ln/>
        </p:spPr>
        <p:txBody>
          <a:bodyPr wrap="square" lIns="0" tIns="0" rIns="0" bIns="0" rtlCol="0" anchor="t">
            <a:normAutofit/>
          </a:bodyPr>
          <a:lstStyle/>
          <a:p>
            <a:pPr marL="0" indent="0" algn="l">
              <a:lnSpc>
                <a:spcPts val="1540"/>
              </a:lnSpc>
              <a:buNone/>
            </a:pPr>
            <a:r>
              <a:rPr lang="en-US" sz="1100" b="1" kern="0" spc="150" dirty="0">
                <a:solidFill>
                  <a:srgbClr val="3557FF"/>
                </a:solidFill>
                <a:latin typeface="Inter" pitchFamily="34" charset="0"/>
                <a:ea typeface="Inter" pitchFamily="34" charset="-122"/>
                <a:cs typeface="Inter" pitchFamily="34" charset="-120"/>
              </a:rPr>
              <a:t>FEATURE 1 OF 5</a:t>
            </a:r>
            <a:endParaRPr lang="en-US" sz="1100" dirty="0"/>
          </a:p>
        </p:txBody>
      </p:sp>
      <p:sp>
        <p:nvSpPr>
          <p:cNvPr id="4" name="Text 1"/>
          <p:cNvSpPr/>
          <p:nvPr/>
        </p:nvSpPr>
        <p:spPr>
          <a:xfrm>
            <a:off x="812800" y="232791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C"/>
                </a:solidFill>
                <a:latin typeface="Space Grotesk" pitchFamily="34" charset="0"/>
                <a:ea typeface="Space Grotesk" pitchFamily="34" charset="-122"/>
                <a:cs typeface="Space Grotesk" pitchFamily="34" charset="-120"/>
              </a:rPr>
              <a:t>Subscription Tracking</a:t>
            </a:r>
            <a:endParaRPr lang="en-US" sz="3200" dirty="0"/>
          </a:p>
        </p:txBody>
      </p:sp>
      <p:sp>
        <p:nvSpPr>
          <p:cNvPr id="5" name="Text 2"/>
          <p:cNvSpPr/>
          <p:nvPr/>
        </p:nvSpPr>
        <p:spPr>
          <a:xfrm>
            <a:off x="812800" y="3100071"/>
            <a:ext cx="850265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7280"/>
                </a:solidFill>
                <a:latin typeface="Inter" pitchFamily="34" charset="0"/>
                <a:ea typeface="Inter" pitchFamily="34" charset="-122"/>
                <a:cs typeface="Inter" pitchFamily="34" charset="-120"/>
              </a:rPr>
              <a:t>The foundation every other feature depends on — one record per plan, across every provider.</a:t>
            </a:r>
            <a:endParaRPr lang="en-US" sz="1400" dirty="0"/>
          </a:p>
        </p:txBody>
      </p:sp>
      <p:sp>
        <p:nvSpPr>
          <p:cNvPr id="6" name="Shape 3"/>
          <p:cNvSpPr/>
          <p:nvPr/>
        </p:nvSpPr>
        <p:spPr>
          <a:xfrm>
            <a:off x="1841500" y="3769361"/>
            <a:ext cx="609600" cy="609600"/>
          </a:xfrm>
          <a:prstGeom prst="roundRect">
            <a:avLst>
              <a:gd name="adj" fmla="val 50000"/>
            </a:avLst>
          </a:prstGeom>
          <a:solidFill>
            <a:srgbClr val="3557FF"/>
          </a:solidFill>
          <a:ln/>
        </p:spPr>
        <p:txBody>
          <a:bodyPr/>
          <a:lstStyle/>
          <a:p>
            <a:endParaRPr lang="en-US"/>
          </a:p>
        </p:txBody>
      </p:sp>
      <p:sp>
        <p:nvSpPr>
          <p:cNvPr id="7" name="Text 4"/>
          <p:cNvSpPr/>
          <p:nvPr/>
        </p:nvSpPr>
        <p:spPr>
          <a:xfrm>
            <a:off x="2094230" y="3905250"/>
            <a:ext cx="154861" cy="363220"/>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FFFFFF"/>
                </a:solidFill>
                <a:latin typeface="Inter" pitchFamily="34" charset="0"/>
                <a:ea typeface="Inter" pitchFamily="34" charset="-122"/>
                <a:cs typeface="Inter" pitchFamily="34" charset="-120"/>
              </a:rPr>
              <a:t>1</a:t>
            </a:r>
            <a:endParaRPr lang="en-US" sz="1900" dirty="0"/>
          </a:p>
        </p:txBody>
      </p:sp>
      <p:sp>
        <p:nvSpPr>
          <p:cNvPr id="8" name="Text 5"/>
          <p:cNvSpPr/>
          <p:nvPr/>
        </p:nvSpPr>
        <p:spPr>
          <a:xfrm>
            <a:off x="1194740" y="4480561"/>
            <a:ext cx="1903040" cy="25654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4171C"/>
                </a:solidFill>
                <a:latin typeface="Inter" pitchFamily="34" charset="0"/>
                <a:ea typeface="Inter" pitchFamily="34" charset="-122"/>
                <a:cs typeface="Inter" pitchFamily="34" charset="-120"/>
              </a:rPr>
              <a:t>User adds subscription</a:t>
            </a:r>
            <a:endParaRPr lang="en-US" sz="1300" dirty="0"/>
          </a:p>
        </p:txBody>
      </p:sp>
      <p:pic>
        <p:nvPicPr>
          <p:cNvPr id="9" name="Image 1" descr="arrow-right"/>
          <p:cNvPicPr>
            <a:picLocks noChangeAspect="1"/>
          </p:cNvPicPr>
          <p:nvPr/>
        </p:nvPicPr>
        <p:blipFill>
          <a:blip r:embed="rId4"/>
          <a:srcRect/>
          <a:stretch/>
        </p:blipFill>
        <p:spPr>
          <a:xfrm>
            <a:off x="3606800" y="4088132"/>
            <a:ext cx="304800" cy="304800"/>
          </a:xfrm>
          <a:prstGeom prst="rect">
            <a:avLst/>
          </a:prstGeom>
        </p:spPr>
      </p:pic>
      <p:sp>
        <p:nvSpPr>
          <p:cNvPr id="10" name="Shape 6"/>
          <p:cNvSpPr/>
          <p:nvPr/>
        </p:nvSpPr>
        <p:spPr>
          <a:xfrm>
            <a:off x="5067300" y="3769361"/>
            <a:ext cx="609600" cy="609600"/>
          </a:xfrm>
          <a:prstGeom prst="roundRect">
            <a:avLst>
              <a:gd name="adj" fmla="val 50000"/>
            </a:avLst>
          </a:prstGeom>
          <a:solidFill>
            <a:srgbClr val="3557FF"/>
          </a:solidFill>
          <a:ln/>
        </p:spPr>
        <p:txBody>
          <a:bodyPr/>
          <a:lstStyle/>
          <a:p>
            <a:endParaRPr lang="en-US"/>
          </a:p>
        </p:txBody>
      </p:sp>
      <p:sp>
        <p:nvSpPr>
          <p:cNvPr id="11" name="Text 7"/>
          <p:cNvSpPr/>
          <p:nvPr/>
        </p:nvSpPr>
        <p:spPr>
          <a:xfrm>
            <a:off x="5296059" y="3905250"/>
            <a:ext cx="202803" cy="363220"/>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FFFFFF"/>
                </a:solidFill>
                <a:latin typeface="Inter" pitchFamily="34" charset="0"/>
                <a:ea typeface="Inter" pitchFamily="34" charset="-122"/>
                <a:cs typeface="Inter" pitchFamily="34" charset="-120"/>
              </a:rPr>
              <a:t>2</a:t>
            </a:r>
            <a:endParaRPr lang="en-US" sz="1900" dirty="0"/>
          </a:p>
        </p:txBody>
      </p:sp>
      <p:sp>
        <p:nvSpPr>
          <p:cNvPr id="12" name="Text 8"/>
          <p:cNvSpPr/>
          <p:nvPr/>
        </p:nvSpPr>
        <p:spPr>
          <a:xfrm>
            <a:off x="4599623" y="4480561"/>
            <a:ext cx="1544876" cy="25654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4171C"/>
                </a:solidFill>
                <a:latin typeface="Inter" pitchFamily="34" charset="0"/>
                <a:ea typeface="Inter" pitchFamily="34" charset="-122"/>
                <a:cs typeface="Inter" pitchFamily="34" charset="-120"/>
              </a:rPr>
              <a:t>Stored in database</a:t>
            </a:r>
            <a:endParaRPr lang="en-US" sz="1300" dirty="0"/>
          </a:p>
        </p:txBody>
      </p:sp>
      <p:pic>
        <p:nvPicPr>
          <p:cNvPr id="13" name="Image 2" descr="arrow-right"/>
          <p:cNvPicPr>
            <a:picLocks noChangeAspect="1"/>
          </p:cNvPicPr>
          <p:nvPr/>
        </p:nvPicPr>
        <p:blipFill>
          <a:blip r:embed="rId4"/>
          <a:srcRect/>
          <a:stretch/>
        </p:blipFill>
        <p:spPr>
          <a:xfrm>
            <a:off x="6832600" y="4088132"/>
            <a:ext cx="304800" cy="304800"/>
          </a:xfrm>
          <a:prstGeom prst="rect">
            <a:avLst/>
          </a:prstGeom>
        </p:spPr>
      </p:pic>
      <p:sp>
        <p:nvSpPr>
          <p:cNvPr id="14" name="Shape 9"/>
          <p:cNvSpPr/>
          <p:nvPr/>
        </p:nvSpPr>
        <p:spPr>
          <a:xfrm>
            <a:off x="8293100" y="3653789"/>
            <a:ext cx="609600" cy="609600"/>
          </a:xfrm>
          <a:prstGeom prst="roundRect">
            <a:avLst>
              <a:gd name="adj" fmla="val 50000"/>
            </a:avLst>
          </a:prstGeom>
          <a:solidFill>
            <a:srgbClr val="3557FF"/>
          </a:solidFill>
          <a:ln/>
        </p:spPr>
        <p:txBody>
          <a:bodyPr/>
          <a:lstStyle/>
          <a:p>
            <a:endParaRPr lang="en-US"/>
          </a:p>
        </p:txBody>
      </p:sp>
      <p:sp>
        <p:nvSpPr>
          <p:cNvPr id="15" name="Text 10"/>
          <p:cNvSpPr/>
          <p:nvPr/>
        </p:nvSpPr>
        <p:spPr>
          <a:xfrm>
            <a:off x="8519954" y="3789682"/>
            <a:ext cx="206613" cy="363220"/>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FFFFFF"/>
                </a:solidFill>
                <a:latin typeface="Inter" pitchFamily="34" charset="0"/>
                <a:ea typeface="Inter" pitchFamily="34" charset="-122"/>
                <a:cs typeface="Inter" pitchFamily="34" charset="-120"/>
              </a:rPr>
              <a:t>3</a:t>
            </a:r>
            <a:endParaRPr lang="en-US" sz="1900" dirty="0"/>
          </a:p>
        </p:txBody>
      </p:sp>
      <p:sp>
        <p:nvSpPr>
          <p:cNvPr id="16" name="Text 11"/>
          <p:cNvSpPr/>
          <p:nvPr/>
        </p:nvSpPr>
        <p:spPr>
          <a:xfrm>
            <a:off x="7224395" y="4364989"/>
            <a:ext cx="2747010" cy="4876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4171C"/>
                </a:solidFill>
                <a:latin typeface="Inter" pitchFamily="34" charset="0"/>
                <a:ea typeface="Inter" pitchFamily="34" charset="-122"/>
                <a:cs typeface="Inter" pitchFamily="34" charset="-120"/>
              </a:rPr>
              <a:t>Retrievable by user, category, or status</a:t>
            </a:r>
            <a:endParaRPr lang="en-US" sz="1300" dirty="0"/>
          </a:p>
        </p:txBody>
      </p:sp>
      <p:sp>
        <p:nvSpPr>
          <p:cNvPr id="17" name="Text 12"/>
          <p:cNvSpPr/>
          <p:nvPr/>
        </p:nvSpPr>
        <p:spPr>
          <a:xfrm>
            <a:off x="812800" y="6238239"/>
            <a:ext cx="3721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Wafi</a:t>
            </a:r>
            <a:endParaRPr lang="en-US" sz="1200" dirty="0"/>
          </a:p>
        </p:txBody>
      </p:sp>
      <p:sp>
        <p:nvSpPr>
          <p:cNvPr id="18" name="Text 13"/>
          <p:cNvSpPr/>
          <p:nvPr/>
        </p:nvSpPr>
        <p:spPr>
          <a:xfrm>
            <a:off x="11292919" y="6238239"/>
            <a:ext cx="1370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0"/>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a:stretch/>
        </p:blipFill>
        <p:spPr>
          <a:xfrm>
            <a:off x="812800" y="2212659"/>
            <a:ext cx="203200" cy="38100"/>
          </a:xfrm>
          <a:prstGeom prst="rect">
            <a:avLst/>
          </a:prstGeom>
        </p:spPr>
      </p:pic>
      <p:sp>
        <p:nvSpPr>
          <p:cNvPr id="3" name="Text 0"/>
          <p:cNvSpPr/>
          <p:nvPr/>
        </p:nvSpPr>
        <p:spPr>
          <a:xfrm>
            <a:off x="1104900" y="2133919"/>
            <a:ext cx="1412161" cy="220980"/>
          </a:xfrm>
          <a:prstGeom prst="rect">
            <a:avLst/>
          </a:prstGeom>
          <a:noFill/>
          <a:ln/>
        </p:spPr>
        <p:txBody>
          <a:bodyPr wrap="square" lIns="0" tIns="0" rIns="0" bIns="0" rtlCol="0" anchor="t">
            <a:normAutofit/>
          </a:bodyPr>
          <a:lstStyle/>
          <a:p>
            <a:pPr marL="0" indent="0" algn="l">
              <a:lnSpc>
                <a:spcPts val="1540"/>
              </a:lnSpc>
              <a:buNone/>
            </a:pPr>
            <a:r>
              <a:rPr lang="en-US" sz="1100" b="1" kern="0" spc="150" dirty="0">
                <a:solidFill>
                  <a:srgbClr val="FF5C1F"/>
                </a:solidFill>
                <a:latin typeface="Inter" pitchFamily="34" charset="0"/>
                <a:ea typeface="Inter" pitchFamily="34" charset="-122"/>
                <a:cs typeface="Inter" pitchFamily="34" charset="-120"/>
              </a:rPr>
              <a:t>FEATURE 2 OF 5</a:t>
            </a:r>
            <a:endParaRPr lang="en-US" sz="1100" dirty="0"/>
          </a:p>
        </p:txBody>
      </p:sp>
      <p:sp>
        <p:nvSpPr>
          <p:cNvPr id="4" name="Text 1"/>
          <p:cNvSpPr/>
          <p:nvPr/>
        </p:nvSpPr>
        <p:spPr>
          <a:xfrm>
            <a:off x="812800" y="2608898"/>
            <a:ext cx="10883392" cy="419735"/>
          </a:xfrm>
          <a:prstGeom prst="rect">
            <a:avLst/>
          </a:prstGeom>
          <a:noFill/>
          <a:ln/>
        </p:spPr>
        <p:txBody>
          <a:bodyPr wrap="square" lIns="0" tIns="0" rIns="0" bIns="0" rtlCol="0" anchor="t">
            <a:normAutofit/>
          </a:bodyPr>
          <a:lstStyle/>
          <a:p>
            <a:pPr marL="0" indent="0" algn="l">
              <a:lnSpc>
                <a:spcPts val="3105"/>
              </a:lnSpc>
              <a:buNone/>
            </a:pPr>
            <a:r>
              <a:rPr lang="en-US" sz="2700" b="1" dirty="0">
                <a:solidFill>
                  <a:srgbClr val="14171C"/>
                </a:solidFill>
                <a:latin typeface="Space Grotesk" pitchFamily="34" charset="0"/>
                <a:ea typeface="Space Grotesk" pitchFamily="34" charset="-122"/>
                <a:cs typeface="Space Grotesk" pitchFamily="34" charset="-120"/>
              </a:rPr>
              <a:t>Expiry Alerts + AI Competitor Suggestion</a:t>
            </a:r>
            <a:endParaRPr lang="en-US" sz="2700" dirty="0"/>
          </a:p>
        </p:txBody>
      </p:sp>
      <p:sp>
        <p:nvSpPr>
          <p:cNvPr id="5" name="Text 2"/>
          <p:cNvSpPr/>
          <p:nvPr/>
        </p:nvSpPr>
        <p:spPr>
          <a:xfrm>
            <a:off x="812800" y="3282634"/>
            <a:ext cx="91567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280"/>
                </a:solidFill>
                <a:latin typeface="Inter" pitchFamily="34" charset="0"/>
                <a:ea typeface="Inter" pitchFamily="34" charset="-122"/>
                <a:cs typeface="Inter" pitchFamily="34" charset="-120"/>
              </a:rPr>
              <a:t>This is the direct answer to my Mobily story — a warning before the plan runs out, with a real alternative.</a:t>
            </a:r>
            <a:endParaRPr lang="en-US" sz="1300" dirty="0"/>
          </a:p>
        </p:txBody>
      </p:sp>
      <p:sp>
        <p:nvSpPr>
          <p:cNvPr id="6" name="Shape 3"/>
          <p:cNvSpPr/>
          <p:nvPr/>
        </p:nvSpPr>
        <p:spPr>
          <a:xfrm>
            <a:off x="1651000" y="3793173"/>
            <a:ext cx="482600" cy="482600"/>
          </a:xfrm>
          <a:prstGeom prst="roundRect">
            <a:avLst>
              <a:gd name="adj" fmla="val 50000"/>
            </a:avLst>
          </a:prstGeom>
          <a:solidFill>
            <a:srgbClr val="FF5C1F"/>
          </a:solidFill>
          <a:ln/>
        </p:spPr>
        <p:txBody>
          <a:bodyPr/>
          <a:lstStyle/>
          <a:p>
            <a:endParaRPr lang="en-US"/>
          </a:p>
        </p:txBody>
      </p:sp>
      <p:sp>
        <p:nvSpPr>
          <p:cNvPr id="7" name="Text 4"/>
          <p:cNvSpPr/>
          <p:nvPr/>
        </p:nvSpPr>
        <p:spPr>
          <a:xfrm>
            <a:off x="1851184" y="3901123"/>
            <a:ext cx="13295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FFFFF"/>
                </a:solidFill>
                <a:latin typeface="Inter" pitchFamily="34" charset="0"/>
                <a:ea typeface="Inter" pitchFamily="34" charset="-122"/>
                <a:cs typeface="Inter" pitchFamily="34" charset="-120"/>
              </a:rPr>
              <a:t>1</a:t>
            </a:r>
            <a:endParaRPr lang="en-US" sz="1500" dirty="0"/>
          </a:p>
        </p:txBody>
      </p:sp>
      <p:sp>
        <p:nvSpPr>
          <p:cNvPr id="8" name="Text 5"/>
          <p:cNvSpPr/>
          <p:nvPr/>
        </p:nvSpPr>
        <p:spPr>
          <a:xfrm>
            <a:off x="1012439" y="4351976"/>
            <a:ext cx="1759722" cy="194310"/>
          </a:xfrm>
          <a:prstGeom prst="rect">
            <a:avLst/>
          </a:prstGeom>
          <a:noFill/>
          <a:ln/>
        </p:spPr>
        <p:txBody>
          <a:bodyPr wrap="square" lIns="0" tIns="0" rIns="0" bIns="0" rtlCol="0" anchor="t">
            <a:normAutofit/>
          </a:bodyPr>
          <a:lstStyle/>
          <a:p>
            <a:pPr marL="0" indent="0" algn="ctr">
              <a:lnSpc>
                <a:spcPts val="1330"/>
              </a:lnSpc>
              <a:buNone/>
            </a:pPr>
            <a:r>
              <a:rPr lang="en-US" sz="950" b="1" dirty="0">
                <a:solidFill>
                  <a:srgbClr val="14171C"/>
                </a:solidFill>
                <a:latin typeface="Inter" pitchFamily="34" charset="0"/>
                <a:ea typeface="Inter" pitchFamily="34" charset="-122"/>
                <a:cs typeface="Inter" pitchFamily="34" charset="-120"/>
              </a:rPr>
              <a:t>Daily check or manual trigger</a:t>
            </a:r>
            <a:endParaRPr lang="en-US" sz="950" dirty="0"/>
          </a:p>
        </p:txBody>
      </p:sp>
      <p:pic>
        <p:nvPicPr>
          <p:cNvPr id="9" name="Image 1" descr="arrow-right"/>
          <p:cNvPicPr>
            <a:picLocks noChangeAspect="1"/>
          </p:cNvPicPr>
          <p:nvPr/>
        </p:nvPicPr>
        <p:blipFill>
          <a:blip r:embed="rId4"/>
          <a:srcRect/>
          <a:stretch/>
        </p:blipFill>
        <p:spPr>
          <a:xfrm>
            <a:off x="3035300" y="4042730"/>
            <a:ext cx="228600" cy="228600"/>
          </a:xfrm>
          <a:prstGeom prst="rect">
            <a:avLst/>
          </a:prstGeom>
        </p:spPr>
      </p:pic>
      <p:sp>
        <p:nvSpPr>
          <p:cNvPr id="10" name="Shape 6"/>
          <p:cNvSpPr/>
          <p:nvPr/>
        </p:nvSpPr>
        <p:spPr>
          <a:xfrm>
            <a:off x="4165600" y="3793173"/>
            <a:ext cx="482600" cy="482600"/>
          </a:xfrm>
          <a:prstGeom prst="roundRect">
            <a:avLst>
              <a:gd name="adj" fmla="val 50000"/>
            </a:avLst>
          </a:prstGeom>
          <a:solidFill>
            <a:srgbClr val="FF5C1F"/>
          </a:solidFill>
          <a:ln/>
        </p:spPr>
        <p:txBody>
          <a:bodyPr/>
          <a:lstStyle/>
          <a:p>
            <a:endParaRPr lang="en-US"/>
          </a:p>
        </p:txBody>
      </p:sp>
      <p:sp>
        <p:nvSpPr>
          <p:cNvPr id="11" name="Text 7"/>
          <p:cNvSpPr/>
          <p:nvPr/>
        </p:nvSpPr>
        <p:spPr>
          <a:xfrm>
            <a:off x="4346892" y="3901123"/>
            <a:ext cx="17081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FFFFF"/>
                </a:solidFill>
                <a:latin typeface="Inter" pitchFamily="34" charset="0"/>
                <a:ea typeface="Inter" pitchFamily="34" charset="-122"/>
                <a:cs typeface="Inter" pitchFamily="34" charset="-120"/>
              </a:rPr>
              <a:t>2</a:t>
            </a:r>
            <a:endParaRPr lang="en-US" sz="1500" dirty="0"/>
          </a:p>
        </p:txBody>
      </p:sp>
      <p:sp>
        <p:nvSpPr>
          <p:cNvPr id="12" name="Text 8"/>
          <p:cNvSpPr/>
          <p:nvPr/>
        </p:nvSpPr>
        <p:spPr>
          <a:xfrm>
            <a:off x="3638391" y="4351976"/>
            <a:ext cx="1537018" cy="194310"/>
          </a:xfrm>
          <a:prstGeom prst="rect">
            <a:avLst/>
          </a:prstGeom>
          <a:noFill/>
          <a:ln/>
        </p:spPr>
        <p:txBody>
          <a:bodyPr wrap="square" lIns="0" tIns="0" rIns="0" bIns="0" rtlCol="0" anchor="t">
            <a:normAutofit/>
          </a:bodyPr>
          <a:lstStyle/>
          <a:p>
            <a:pPr marL="0" indent="0" algn="ctr">
              <a:lnSpc>
                <a:spcPts val="1330"/>
              </a:lnSpc>
              <a:buNone/>
            </a:pPr>
            <a:r>
              <a:rPr lang="en-US" sz="950" b="1" dirty="0">
                <a:solidFill>
                  <a:srgbClr val="14171C"/>
                </a:solidFill>
                <a:latin typeface="Inter" pitchFamily="34" charset="0"/>
                <a:ea typeface="Inter" pitchFamily="34" charset="-122"/>
                <a:cs typeface="Inter" pitchFamily="34" charset="-120"/>
              </a:rPr>
              <a:t>Finds plans expiring soon</a:t>
            </a:r>
            <a:endParaRPr lang="en-US" sz="950" dirty="0"/>
          </a:p>
        </p:txBody>
      </p:sp>
      <p:pic>
        <p:nvPicPr>
          <p:cNvPr id="13" name="Image 2" descr="arrow-right"/>
          <p:cNvPicPr>
            <a:picLocks noChangeAspect="1"/>
          </p:cNvPicPr>
          <p:nvPr/>
        </p:nvPicPr>
        <p:blipFill>
          <a:blip r:embed="rId4"/>
          <a:srcRect/>
          <a:stretch/>
        </p:blipFill>
        <p:spPr>
          <a:xfrm>
            <a:off x="5549900" y="4042730"/>
            <a:ext cx="228600" cy="228600"/>
          </a:xfrm>
          <a:prstGeom prst="rect">
            <a:avLst/>
          </a:prstGeom>
        </p:spPr>
      </p:pic>
      <p:sp>
        <p:nvSpPr>
          <p:cNvPr id="14" name="Shape 9"/>
          <p:cNvSpPr/>
          <p:nvPr/>
        </p:nvSpPr>
        <p:spPr>
          <a:xfrm>
            <a:off x="6680200" y="3793173"/>
            <a:ext cx="482600" cy="482600"/>
          </a:xfrm>
          <a:prstGeom prst="roundRect">
            <a:avLst>
              <a:gd name="adj" fmla="val 50000"/>
            </a:avLst>
          </a:prstGeom>
          <a:solidFill>
            <a:srgbClr val="FF5C1F"/>
          </a:solidFill>
          <a:ln/>
        </p:spPr>
        <p:txBody>
          <a:bodyPr/>
          <a:lstStyle/>
          <a:p>
            <a:endParaRPr lang="en-US"/>
          </a:p>
        </p:txBody>
      </p:sp>
      <p:sp>
        <p:nvSpPr>
          <p:cNvPr id="15" name="Text 10"/>
          <p:cNvSpPr/>
          <p:nvPr/>
        </p:nvSpPr>
        <p:spPr>
          <a:xfrm>
            <a:off x="6859984" y="3901123"/>
            <a:ext cx="17383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FFFFF"/>
                </a:solidFill>
                <a:latin typeface="Inter" pitchFamily="34" charset="0"/>
                <a:ea typeface="Inter" pitchFamily="34" charset="-122"/>
                <a:cs typeface="Inter" pitchFamily="34" charset="-120"/>
              </a:rPr>
              <a:t>3</a:t>
            </a:r>
            <a:endParaRPr lang="en-US" sz="1500" dirty="0"/>
          </a:p>
        </p:txBody>
      </p:sp>
      <p:sp>
        <p:nvSpPr>
          <p:cNvPr id="16" name="Text 11"/>
          <p:cNvSpPr/>
          <p:nvPr/>
        </p:nvSpPr>
        <p:spPr>
          <a:xfrm>
            <a:off x="6028151" y="4351976"/>
            <a:ext cx="1786619" cy="194310"/>
          </a:xfrm>
          <a:prstGeom prst="rect">
            <a:avLst/>
          </a:prstGeom>
          <a:noFill/>
          <a:ln/>
        </p:spPr>
        <p:txBody>
          <a:bodyPr wrap="square" lIns="0" tIns="0" rIns="0" bIns="0" rtlCol="0" anchor="t">
            <a:normAutofit/>
          </a:bodyPr>
          <a:lstStyle/>
          <a:p>
            <a:pPr marL="0" indent="0" algn="ctr">
              <a:lnSpc>
                <a:spcPts val="1330"/>
              </a:lnSpc>
              <a:buNone/>
            </a:pPr>
            <a:r>
              <a:rPr lang="en-US" sz="950" b="1" dirty="0">
                <a:solidFill>
                  <a:srgbClr val="14171C"/>
                </a:solidFill>
                <a:latin typeface="Inter" pitchFamily="34" charset="0"/>
                <a:ea typeface="Inter" pitchFamily="34" charset="-122"/>
                <a:cs typeface="Inter" pitchFamily="34" charset="-120"/>
              </a:rPr>
              <a:t>AI suggests a competitor plan</a:t>
            </a:r>
            <a:endParaRPr lang="en-US" sz="950" dirty="0"/>
          </a:p>
        </p:txBody>
      </p:sp>
      <p:pic>
        <p:nvPicPr>
          <p:cNvPr id="17" name="Image 3" descr="arrow-right"/>
          <p:cNvPicPr>
            <a:picLocks noChangeAspect="1"/>
          </p:cNvPicPr>
          <p:nvPr/>
        </p:nvPicPr>
        <p:blipFill>
          <a:blip r:embed="rId4"/>
          <a:srcRect/>
          <a:stretch/>
        </p:blipFill>
        <p:spPr>
          <a:xfrm>
            <a:off x="8064500" y="4042730"/>
            <a:ext cx="228600" cy="228600"/>
          </a:xfrm>
          <a:prstGeom prst="rect">
            <a:avLst/>
          </a:prstGeom>
        </p:spPr>
      </p:pic>
      <p:sp>
        <p:nvSpPr>
          <p:cNvPr id="18" name="Shape 12"/>
          <p:cNvSpPr/>
          <p:nvPr/>
        </p:nvSpPr>
        <p:spPr>
          <a:xfrm>
            <a:off x="9194800" y="3793173"/>
            <a:ext cx="482600" cy="482600"/>
          </a:xfrm>
          <a:prstGeom prst="roundRect">
            <a:avLst>
              <a:gd name="adj" fmla="val 50000"/>
            </a:avLst>
          </a:prstGeom>
          <a:solidFill>
            <a:srgbClr val="FF5C1F"/>
          </a:solidFill>
          <a:ln/>
        </p:spPr>
        <p:txBody>
          <a:bodyPr/>
          <a:lstStyle/>
          <a:p>
            <a:endParaRPr lang="en-US"/>
          </a:p>
        </p:txBody>
      </p:sp>
      <p:sp>
        <p:nvSpPr>
          <p:cNvPr id="19" name="Text 13"/>
          <p:cNvSpPr/>
          <p:nvPr/>
        </p:nvSpPr>
        <p:spPr>
          <a:xfrm>
            <a:off x="9371647" y="3901123"/>
            <a:ext cx="17970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FFFFF"/>
                </a:solidFill>
                <a:latin typeface="Inter" pitchFamily="34" charset="0"/>
                <a:ea typeface="Inter" pitchFamily="34" charset="-122"/>
                <a:cs typeface="Inter" pitchFamily="34" charset="-120"/>
              </a:rPr>
              <a:t>4</a:t>
            </a:r>
            <a:endParaRPr lang="en-US" sz="1500" dirty="0"/>
          </a:p>
        </p:txBody>
      </p:sp>
      <p:sp>
        <p:nvSpPr>
          <p:cNvPr id="20" name="Text 14"/>
          <p:cNvSpPr/>
          <p:nvPr/>
        </p:nvSpPr>
        <p:spPr>
          <a:xfrm>
            <a:off x="8627031" y="4351976"/>
            <a:ext cx="1618059" cy="194310"/>
          </a:xfrm>
          <a:prstGeom prst="rect">
            <a:avLst/>
          </a:prstGeom>
          <a:noFill/>
          <a:ln/>
        </p:spPr>
        <p:txBody>
          <a:bodyPr wrap="square" lIns="0" tIns="0" rIns="0" bIns="0" rtlCol="0" anchor="t">
            <a:normAutofit/>
          </a:bodyPr>
          <a:lstStyle/>
          <a:p>
            <a:pPr marL="0" indent="0" algn="ctr">
              <a:lnSpc>
                <a:spcPts val="1330"/>
              </a:lnSpc>
              <a:buNone/>
            </a:pPr>
            <a:r>
              <a:rPr lang="en-US" sz="950" b="1" dirty="0">
                <a:solidFill>
                  <a:srgbClr val="14171C"/>
                </a:solidFill>
                <a:latin typeface="Inter" pitchFamily="34" charset="0"/>
                <a:ea typeface="Inter" pitchFamily="34" charset="-122"/>
                <a:cs typeface="Inter" pitchFamily="34" charset="-120"/>
              </a:rPr>
              <a:t>Sent via WhatsApp + Email</a:t>
            </a:r>
            <a:endParaRPr lang="en-US" sz="950" dirty="0"/>
          </a:p>
        </p:txBody>
      </p:sp>
      <p:sp>
        <p:nvSpPr>
          <p:cNvPr id="21" name="Text 15"/>
          <p:cNvSpPr/>
          <p:nvPr/>
        </p:nvSpPr>
        <p:spPr>
          <a:xfrm>
            <a:off x="812800" y="6238242"/>
            <a:ext cx="3721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Wafi</a:t>
            </a:r>
            <a:endParaRPr lang="en-US" sz="1200" dirty="0"/>
          </a:p>
        </p:txBody>
      </p:sp>
      <p:sp>
        <p:nvSpPr>
          <p:cNvPr id="22" name="Text 16"/>
          <p:cNvSpPr/>
          <p:nvPr/>
        </p:nvSpPr>
        <p:spPr>
          <a:xfrm>
            <a:off x="11284903" y="6238242"/>
            <a:ext cx="14509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0"/>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a:stretch/>
        </p:blipFill>
        <p:spPr>
          <a:xfrm>
            <a:off x="812800" y="1962150"/>
            <a:ext cx="203200" cy="38100"/>
          </a:xfrm>
          <a:prstGeom prst="rect">
            <a:avLst/>
          </a:prstGeom>
        </p:spPr>
      </p:pic>
      <p:sp>
        <p:nvSpPr>
          <p:cNvPr id="3" name="Text 0"/>
          <p:cNvSpPr/>
          <p:nvPr/>
        </p:nvSpPr>
        <p:spPr>
          <a:xfrm>
            <a:off x="1104900" y="1883414"/>
            <a:ext cx="1414304" cy="220980"/>
          </a:xfrm>
          <a:prstGeom prst="rect">
            <a:avLst/>
          </a:prstGeom>
          <a:noFill/>
          <a:ln/>
        </p:spPr>
        <p:txBody>
          <a:bodyPr wrap="square" lIns="0" tIns="0" rIns="0" bIns="0" rtlCol="0" anchor="t">
            <a:normAutofit/>
          </a:bodyPr>
          <a:lstStyle/>
          <a:p>
            <a:pPr marL="0" indent="0" algn="l">
              <a:lnSpc>
                <a:spcPts val="1540"/>
              </a:lnSpc>
              <a:buNone/>
            </a:pPr>
            <a:r>
              <a:rPr lang="en-US" sz="1100" b="1" kern="0" spc="150" dirty="0">
                <a:solidFill>
                  <a:srgbClr val="00B892"/>
                </a:solidFill>
                <a:latin typeface="Inter" pitchFamily="34" charset="0"/>
                <a:ea typeface="Inter" pitchFamily="34" charset="-122"/>
                <a:cs typeface="Inter" pitchFamily="34" charset="-120"/>
              </a:rPr>
              <a:t>FEATURE 3 OF 5</a:t>
            </a:r>
            <a:endParaRPr lang="en-US" sz="1100" dirty="0"/>
          </a:p>
        </p:txBody>
      </p:sp>
      <p:sp>
        <p:nvSpPr>
          <p:cNvPr id="4" name="Text 1"/>
          <p:cNvSpPr/>
          <p:nvPr/>
        </p:nvSpPr>
        <p:spPr>
          <a:xfrm>
            <a:off x="812800" y="2358392"/>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C"/>
                </a:solidFill>
                <a:latin typeface="Space Grotesk" pitchFamily="34" charset="0"/>
                <a:ea typeface="Space Grotesk" pitchFamily="34" charset="-122"/>
                <a:cs typeface="Space Grotesk" pitchFamily="34" charset="-120"/>
              </a:rPr>
              <a:t>AI Issue Resolver</a:t>
            </a:r>
            <a:endParaRPr lang="en-US" sz="3200" dirty="0"/>
          </a:p>
        </p:txBody>
      </p:sp>
      <p:sp>
        <p:nvSpPr>
          <p:cNvPr id="5" name="Text 2"/>
          <p:cNvSpPr/>
          <p:nvPr/>
        </p:nvSpPr>
        <p:spPr>
          <a:xfrm>
            <a:off x="812800" y="3105150"/>
            <a:ext cx="91567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7280"/>
                </a:solidFill>
                <a:latin typeface="Inter" pitchFamily="34" charset="0"/>
                <a:ea typeface="Inter" pitchFamily="34" charset="-122"/>
                <a:cs typeface="Inter" pitchFamily="34" charset="-120"/>
              </a:rPr>
              <a:t>The second half of my Mobily story — no more silence when something goes wrong.</a:t>
            </a:r>
            <a:endParaRPr lang="en-US" sz="1400" dirty="0"/>
          </a:p>
        </p:txBody>
      </p:sp>
      <p:sp>
        <p:nvSpPr>
          <p:cNvPr id="6" name="Shape 3"/>
          <p:cNvSpPr/>
          <p:nvPr/>
        </p:nvSpPr>
        <p:spPr>
          <a:xfrm>
            <a:off x="1841500" y="3740150"/>
            <a:ext cx="609600" cy="609600"/>
          </a:xfrm>
          <a:prstGeom prst="roundRect">
            <a:avLst>
              <a:gd name="adj" fmla="val 50000"/>
            </a:avLst>
          </a:prstGeom>
          <a:solidFill>
            <a:srgbClr val="00B892"/>
          </a:solidFill>
          <a:ln/>
        </p:spPr>
        <p:txBody>
          <a:bodyPr/>
          <a:lstStyle/>
          <a:p>
            <a:endParaRPr lang="en-US"/>
          </a:p>
        </p:txBody>
      </p:sp>
      <p:sp>
        <p:nvSpPr>
          <p:cNvPr id="7" name="Text 4"/>
          <p:cNvSpPr/>
          <p:nvPr/>
        </p:nvSpPr>
        <p:spPr>
          <a:xfrm>
            <a:off x="2094230" y="3876042"/>
            <a:ext cx="154861" cy="363220"/>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FFFFFF"/>
                </a:solidFill>
                <a:latin typeface="Inter" pitchFamily="34" charset="0"/>
                <a:ea typeface="Inter" pitchFamily="34" charset="-122"/>
                <a:cs typeface="Inter" pitchFamily="34" charset="-120"/>
              </a:rPr>
              <a:t>1</a:t>
            </a:r>
            <a:endParaRPr lang="en-US" sz="1900" dirty="0"/>
          </a:p>
        </p:txBody>
      </p:sp>
      <p:sp>
        <p:nvSpPr>
          <p:cNvPr id="8" name="Text 5"/>
          <p:cNvSpPr/>
          <p:nvPr/>
        </p:nvSpPr>
        <p:spPr>
          <a:xfrm>
            <a:off x="1336913" y="4451350"/>
            <a:ext cx="1618694"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171C"/>
                </a:solidFill>
                <a:latin typeface="Inter" pitchFamily="34" charset="0"/>
                <a:ea typeface="Inter" pitchFamily="34" charset="-122"/>
                <a:cs typeface="Inter" pitchFamily="34" charset="-120"/>
              </a:rPr>
              <a:t>User reports an issue</a:t>
            </a:r>
            <a:endParaRPr lang="en-US" sz="1200" dirty="0"/>
          </a:p>
        </p:txBody>
      </p:sp>
      <p:pic>
        <p:nvPicPr>
          <p:cNvPr id="9" name="Image 1" descr="arrow-right"/>
          <p:cNvPicPr>
            <a:picLocks noChangeAspect="1"/>
          </p:cNvPicPr>
          <p:nvPr/>
        </p:nvPicPr>
        <p:blipFill>
          <a:blip r:embed="rId4"/>
          <a:srcRect/>
          <a:stretch/>
        </p:blipFill>
        <p:spPr>
          <a:xfrm>
            <a:off x="3606800" y="4050029"/>
            <a:ext cx="304800" cy="304800"/>
          </a:xfrm>
          <a:prstGeom prst="rect">
            <a:avLst/>
          </a:prstGeom>
        </p:spPr>
      </p:pic>
      <p:sp>
        <p:nvSpPr>
          <p:cNvPr id="10" name="Shape 6"/>
          <p:cNvSpPr/>
          <p:nvPr/>
        </p:nvSpPr>
        <p:spPr>
          <a:xfrm>
            <a:off x="5067300" y="3633471"/>
            <a:ext cx="609600" cy="609600"/>
          </a:xfrm>
          <a:prstGeom prst="roundRect">
            <a:avLst>
              <a:gd name="adj" fmla="val 50000"/>
            </a:avLst>
          </a:prstGeom>
          <a:solidFill>
            <a:srgbClr val="00B892"/>
          </a:solidFill>
          <a:ln/>
        </p:spPr>
        <p:txBody>
          <a:bodyPr/>
          <a:lstStyle/>
          <a:p>
            <a:endParaRPr lang="en-US"/>
          </a:p>
        </p:txBody>
      </p:sp>
      <p:sp>
        <p:nvSpPr>
          <p:cNvPr id="11" name="Text 7"/>
          <p:cNvSpPr/>
          <p:nvPr/>
        </p:nvSpPr>
        <p:spPr>
          <a:xfrm>
            <a:off x="5296059" y="3769364"/>
            <a:ext cx="202803" cy="363220"/>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FFFFFF"/>
                </a:solidFill>
                <a:latin typeface="Inter" pitchFamily="34" charset="0"/>
                <a:ea typeface="Inter" pitchFamily="34" charset="-122"/>
                <a:cs typeface="Inter" pitchFamily="34" charset="-120"/>
              </a:rPr>
              <a:t>2</a:t>
            </a:r>
            <a:endParaRPr lang="en-US" sz="1900" dirty="0"/>
          </a:p>
        </p:txBody>
      </p:sp>
      <p:sp>
        <p:nvSpPr>
          <p:cNvPr id="12" name="Text 8"/>
          <p:cNvSpPr/>
          <p:nvPr/>
        </p:nvSpPr>
        <p:spPr>
          <a:xfrm>
            <a:off x="3998595" y="4344671"/>
            <a:ext cx="2747010" cy="4521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171C"/>
                </a:solidFill>
                <a:latin typeface="Inter" pitchFamily="34" charset="0"/>
                <a:ea typeface="Inter" pitchFamily="34" charset="-122"/>
                <a:cs typeface="Inter" pitchFamily="34" charset="-120"/>
              </a:rPr>
              <a:t>AI reads issue + subscription context</a:t>
            </a:r>
            <a:endParaRPr lang="en-US" sz="1200" dirty="0"/>
          </a:p>
        </p:txBody>
      </p:sp>
      <p:pic>
        <p:nvPicPr>
          <p:cNvPr id="13" name="Image 2" descr="arrow-right"/>
          <p:cNvPicPr>
            <a:picLocks noChangeAspect="1"/>
          </p:cNvPicPr>
          <p:nvPr/>
        </p:nvPicPr>
        <p:blipFill>
          <a:blip r:embed="rId4"/>
          <a:srcRect/>
          <a:stretch/>
        </p:blipFill>
        <p:spPr>
          <a:xfrm>
            <a:off x="6832600" y="4050029"/>
            <a:ext cx="304800" cy="304800"/>
          </a:xfrm>
          <a:prstGeom prst="rect">
            <a:avLst/>
          </a:prstGeom>
        </p:spPr>
      </p:pic>
      <p:sp>
        <p:nvSpPr>
          <p:cNvPr id="14" name="Shape 9"/>
          <p:cNvSpPr/>
          <p:nvPr/>
        </p:nvSpPr>
        <p:spPr>
          <a:xfrm>
            <a:off x="8293100" y="3633471"/>
            <a:ext cx="609600" cy="609600"/>
          </a:xfrm>
          <a:prstGeom prst="roundRect">
            <a:avLst>
              <a:gd name="adj" fmla="val 50000"/>
            </a:avLst>
          </a:prstGeom>
          <a:solidFill>
            <a:srgbClr val="00B892"/>
          </a:solidFill>
          <a:ln/>
        </p:spPr>
        <p:txBody>
          <a:bodyPr/>
          <a:lstStyle/>
          <a:p>
            <a:endParaRPr lang="en-US"/>
          </a:p>
        </p:txBody>
      </p:sp>
      <p:sp>
        <p:nvSpPr>
          <p:cNvPr id="15" name="Text 10"/>
          <p:cNvSpPr/>
          <p:nvPr/>
        </p:nvSpPr>
        <p:spPr>
          <a:xfrm>
            <a:off x="8519954" y="3769364"/>
            <a:ext cx="206613" cy="363220"/>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FFFFFF"/>
                </a:solidFill>
                <a:latin typeface="Inter" pitchFamily="34" charset="0"/>
                <a:ea typeface="Inter" pitchFamily="34" charset="-122"/>
                <a:cs typeface="Inter" pitchFamily="34" charset="-120"/>
              </a:rPr>
              <a:t>3</a:t>
            </a:r>
            <a:endParaRPr lang="en-US" sz="1900" dirty="0"/>
          </a:p>
        </p:txBody>
      </p:sp>
      <p:sp>
        <p:nvSpPr>
          <p:cNvPr id="16" name="Text 11"/>
          <p:cNvSpPr/>
          <p:nvPr/>
        </p:nvSpPr>
        <p:spPr>
          <a:xfrm>
            <a:off x="7224395" y="4344671"/>
            <a:ext cx="2747010" cy="4521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171C"/>
                </a:solidFill>
                <a:latin typeface="Inter" pitchFamily="34" charset="0"/>
                <a:ea typeface="Inter" pitchFamily="34" charset="-122"/>
                <a:cs typeface="Inter" pitchFamily="34" charset="-120"/>
              </a:rPr>
              <a:t>Instant suggestion, or flagged for support</a:t>
            </a:r>
            <a:endParaRPr lang="en-US" sz="1200" dirty="0"/>
          </a:p>
        </p:txBody>
      </p:sp>
      <p:sp>
        <p:nvSpPr>
          <p:cNvPr id="17" name="Text 12"/>
          <p:cNvSpPr/>
          <p:nvPr/>
        </p:nvSpPr>
        <p:spPr>
          <a:xfrm>
            <a:off x="812800" y="6238242"/>
            <a:ext cx="3721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Wafi</a:t>
            </a:r>
            <a:endParaRPr lang="en-US" sz="1200" dirty="0"/>
          </a:p>
        </p:txBody>
      </p:sp>
      <p:sp>
        <p:nvSpPr>
          <p:cNvPr id="18" name="Text 13"/>
          <p:cNvSpPr/>
          <p:nvPr/>
        </p:nvSpPr>
        <p:spPr>
          <a:xfrm>
            <a:off x="11284665" y="6238242"/>
            <a:ext cx="14533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0"/>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a:stretch/>
        </p:blipFill>
        <p:spPr>
          <a:xfrm>
            <a:off x="812800" y="2068829"/>
            <a:ext cx="203200" cy="38100"/>
          </a:xfrm>
          <a:prstGeom prst="rect">
            <a:avLst/>
          </a:prstGeom>
        </p:spPr>
      </p:pic>
      <p:sp>
        <p:nvSpPr>
          <p:cNvPr id="3" name="Text 0"/>
          <p:cNvSpPr/>
          <p:nvPr/>
        </p:nvSpPr>
        <p:spPr>
          <a:xfrm>
            <a:off x="1104900" y="1990092"/>
            <a:ext cx="1418590" cy="220980"/>
          </a:xfrm>
          <a:prstGeom prst="rect">
            <a:avLst/>
          </a:prstGeom>
          <a:noFill/>
          <a:ln/>
        </p:spPr>
        <p:txBody>
          <a:bodyPr wrap="square" lIns="0" tIns="0" rIns="0" bIns="0" rtlCol="0" anchor="t">
            <a:normAutofit/>
          </a:bodyPr>
          <a:lstStyle/>
          <a:p>
            <a:pPr marL="0" indent="0" algn="l">
              <a:lnSpc>
                <a:spcPts val="1540"/>
              </a:lnSpc>
              <a:buNone/>
            </a:pPr>
            <a:r>
              <a:rPr lang="en-US" sz="1100" b="1" kern="0" spc="150" dirty="0">
                <a:solidFill>
                  <a:srgbClr val="3557FF"/>
                </a:solidFill>
                <a:latin typeface="Inter" pitchFamily="34" charset="0"/>
                <a:ea typeface="Inter" pitchFamily="34" charset="-122"/>
                <a:cs typeface="Inter" pitchFamily="34" charset="-120"/>
              </a:rPr>
              <a:t>FEATURE 4 OF 5</a:t>
            </a:r>
            <a:endParaRPr lang="en-US" sz="1100" dirty="0"/>
          </a:p>
        </p:txBody>
      </p:sp>
      <p:sp>
        <p:nvSpPr>
          <p:cNvPr id="4" name="Text 1"/>
          <p:cNvSpPr/>
          <p:nvPr/>
        </p:nvSpPr>
        <p:spPr>
          <a:xfrm>
            <a:off x="812800" y="246507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C"/>
                </a:solidFill>
                <a:latin typeface="Space Grotesk" pitchFamily="34" charset="0"/>
                <a:ea typeface="Space Grotesk" pitchFamily="34" charset="-122"/>
                <a:cs typeface="Space Grotesk" pitchFamily="34" charset="-120"/>
              </a:rPr>
              <a:t>Budget-Based Recommender</a:t>
            </a:r>
            <a:endParaRPr lang="en-US" sz="3200" dirty="0"/>
          </a:p>
        </p:txBody>
      </p:sp>
      <p:sp>
        <p:nvSpPr>
          <p:cNvPr id="5" name="Text 2"/>
          <p:cNvSpPr/>
          <p:nvPr/>
        </p:nvSpPr>
        <p:spPr>
          <a:xfrm>
            <a:off x="812800" y="3211829"/>
            <a:ext cx="91567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7280"/>
                </a:solidFill>
                <a:latin typeface="Inter" pitchFamily="34" charset="0"/>
                <a:ea typeface="Inter" pitchFamily="34" charset="-122"/>
                <a:cs typeface="Inter" pitchFamily="34" charset="-120"/>
              </a:rPr>
              <a:t>For someone shopping for a new plan altogether — no more guessing.</a:t>
            </a:r>
            <a:endParaRPr lang="en-US" sz="1400" dirty="0"/>
          </a:p>
        </p:txBody>
      </p:sp>
      <p:sp>
        <p:nvSpPr>
          <p:cNvPr id="6" name="Shape 3"/>
          <p:cNvSpPr/>
          <p:nvPr/>
        </p:nvSpPr>
        <p:spPr>
          <a:xfrm>
            <a:off x="1841500" y="3740150"/>
            <a:ext cx="609600" cy="609600"/>
          </a:xfrm>
          <a:prstGeom prst="roundRect">
            <a:avLst>
              <a:gd name="adj" fmla="val 50000"/>
            </a:avLst>
          </a:prstGeom>
          <a:solidFill>
            <a:srgbClr val="3557FF"/>
          </a:solidFill>
          <a:ln/>
        </p:spPr>
        <p:txBody>
          <a:bodyPr/>
          <a:lstStyle/>
          <a:p>
            <a:endParaRPr lang="en-US"/>
          </a:p>
        </p:txBody>
      </p:sp>
      <p:sp>
        <p:nvSpPr>
          <p:cNvPr id="7" name="Text 4"/>
          <p:cNvSpPr/>
          <p:nvPr/>
        </p:nvSpPr>
        <p:spPr>
          <a:xfrm>
            <a:off x="2094230" y="3876042"/>
            <a:ext cx="154861" cy="363220"/>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FFFFFF"/>
                </a:solidFill>
                <a:latin typeface="Inter" pitchFamily="34" charset="0"/>
                <a:ea typeface="Inter" pitchFamily="34" charset="-122"/>
                <a:cs typeface="Inter" pitchFamily="34" charset="-120"/>
              </a:rPr>
              <a:t>1</a:t>
            </a:r>
            <a:endParaRPr lang="en-US" sz="1900" dirty="0"/>
          </a:p>
        </p:txBody>
      </p:sp>
      <p:sp>
        <p:nvSpPr>
          <p:cNvPr id="8" name="Text 5"/>
          <p:cNvSpPr/>
          <p:nvPr/>
        </p:nvSpPr>
        <p:spPr>
          <a:xfrm>
            <a:off x="924781" y="4451350"/>
            <a:ext cx="2442959"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171C"/>
                </a:solidFill>
                <a:latin typeface="Inter" pitchFamily="34" charset="0"/>
                <a:ea typeface="Inter" pitchFamily="34" charset="-122"/>
                <a:cs typeface="Inter" pitchFamily="34" charset="-120"/>
              </a:rPr>
              <a:t>User submits budget + category</a:t>
            </a:r>
            <a:endParaRPr lang="en-US" sz="1200" dirty="0"/>
          </a:p>
        </p:txBody>
      </p:sp>
      <p:pic>
        <p:nvPicPr>
          <p:cNvPr id="9" name="Image 1" descr="arrow-right"/>
          <p:cNvPicPr>
            <a:picLocks noChangeAspect="1"/>
          </p:cNvPicPr>
          <p:nvPr/>
        </p:nvPicPr>
        <p:blipFill>
          <a:blip r:embed="rId4"/>
          <a:srcRect/>
          <a:stretch/>
        </p:blipFill>
        <p:spPr>
          <a:xfrm>
            <a:off x="3606800" y="4050029"/>
            <a:ext cx="304800" cy="304800"/>
          </a:xfrm>
          <a:prstGeom prst="rect">
            <a:avLst/>
          </a:prstGeom>
        </p:spPr>
      </p:pic>
      <p:sp>
        <p:nvSpPr>
          <p:cNvPr id="10" name="Shape 6"/>
          <p:cNvSpPr/>
          <p:nvPr/>
        </p:nvSpPr>
        <p:spPr>
          <a:xfrm>
            <a:off x="5067300" y="3740150"/>
            <a:ext cx="609600" cy="609600"/>
          </a:xfrm>
          <a:prstGeom prst="roundRect">
            <a:avLst>
              <a:gd name="adj" fmla="val 50000"/>
            </a:avLst>
          </a:prstGeom>
          <a:solidFill>
            <a:srgbClr val="3557FF"/>
          </a:solidFill>
          <a:ln/>
        </p:spPr>
        <p:txBody>
          <a:bodyPr/>
          <a:lstStyle/>
          <a:p>
            <a:endParaRPr lang="en-US"/>
          </a:p>
        </p:txBody>
      </p:sp>
      <p:sp>
        <p:nvSpPr>
          <p:cNvPr id="11" name="Text 7"/>
          <p:cNvSpPr/>
          <p:nvPr/>
        </p:nvSpPr>
        <p:spPr>
          <a:xfrm>
            <a:off x="5296059" y="3876042"/>
            <a:ext cx="202803" cy="363220"/>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FFFFFF"/>
                </a:solidFill>
                <a:latin typeface="Inter" pitchFamily="34" charset="0"/>
                <a:ea typeface="Inter" pitchFamily="34" charset="-122"/>
                <a:cs typeface="Inter" pitchFamily="34" charset="-120"/>
              </a:rPr>
              <a:t>2</a:t>
            </a:r>
            <a:endParaRPr lang="en-US" sz="1900" dirty="0"/>
          </a:p>
        </p:txBody>
      </p:sp>
      <p:sp>
        <p:nvSpPr>
          <p:cNvPr id="12" name="Text 8"/>
          <p:cNvSpPr/>
          <p:nvPr/>
        </p:nvSpPr>
        <p:spPr>
          <a:xfrm>
            <a:off x="4537154" y="4451350"/>
            <a:ext cx="1669891"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171C"/>
                </a:solidFill>
                <a:latin typeface="Inter" pitchFamily="34" charset="0"/>
                <a:ea typeface="Inter" pitchFamily="34" charset="-122"/>
                <a:cs typeface="Inter" pitchFamily="34" charset="-120"/>
              </a:rPr>
              <a:t>AI matches a real plan</a:t>
            </a:r>
            <a:endParaRPr lang="en-US" sz="1200" dirty="0"/>
          </a:p>
        </p:txBody>
      </p:sp>
      <p:pic>
        <p:nvPicPr>
          <p:cNvPr id="13" name="Image 2" descr="arrow-right"/>
          <p:cNvPicPr>
            <a:picLocks noChangeAspect="1"/>
          </p:cNvPicPr>
          <p:nvPr/>
        </p:nvPicPr>
        <p:blipFill>
          <a:blip r:embed="rId4"/>
          <a:srcRect/>
          <a:stretch/>
        </p:blipFill>
        <p:spPr>
          <a:xfrm>
            <a:off x="6832600" y="4050029"/>
            <a:ext cx="304800" cy="304800"/>
          </a:xfrm>
          <a:prstGeom prst="rect">
            <a:avLst/>
          </a:prstGeom>
        </p:spPr>
      </p:pic>
      <p:sp>
        <p:nvSpPr>
          <p:cNvPr id="14" name="Shape 9"/>
          <p:cNvSpPr/>
          <p:nvPr/>
        </p:nvSpPr>
        <p:spPr>
          <a:xfrm>
            <a:off x="8293100" y="3740150"/>
            <a:ext cx="609600" cy="609600"/>
          </a:xfrm>
          <a:prstGeom prst="roundRect">
            <a:avLst>
              <a:gd name="adj" fmla="val 50000"/>
            </a:avLst>
          </a:prstGeom>
          <a:solidFill>
            <a:srgbClr val="3557FF"/>
          </a:solidFill>
          <a:ln/>
        </p:spPr>
        <p:txBody>
          <a:bodyPr/>
          <a:lstStyle/>
          <a:p>
            <a:endParaRPr lang="en-US"/>
          </a:p>
        </p:txBody>
      </p:sp>
      <p:sp>
        <p:nvSpPr>
          <p:cNvPr id="15" name="Text 10"/>
          <p:cNvSpPr/>
          <p:nvPr/>
        </p:nvSpPr>
        <p:spPr>
          <a:xfrm>
            <a:off x="8519954" y="3876042"/>
            <a:ext cx="206613" cy="363220"/>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FFFFFF"/>
                </a:solidFill>
                <a:latin typeface="Inter" pitchFamily="34" charset="0"/>
                <a:ea typeface="Inter" pitchFamily="34" charset="-122"/>
                <a:cs typeface="Inter" pitchFamily="34" charset="-120"/>
              </a:rPr>
              <a:t>3</a:t>
            </a:r>
            <a:endParaRPr lang="en-US" sz="1900" dirty="0"/>
          </a:p>
        </p:txBody>
      </p:sp>
      <p:sp>
        <p:nvSpPr>
          <p:cNvPr id="16" name="Text 11"/>
          <p:cNvSpPr/>
          <p:nvPr/>
        </p:nvSpPr>
        <p:spPr>
          <a:xfrm>
            <a:off x="7518963" y="4451350"/>
            <a:ext cx="2157875"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171C"/>
                </a:solidFill>
                <a:latin typeface="Inter" pitchFamily="34" charset="0"/>
                <a:ea typeface="Inter" pitchFamily="34" charset="-122"/>
                <a:cs typeface="Inter" pitchFamily="34" charset="-120"/>
              </a:rPr>
              <a:t>Returned directly to the user</a:t>
            </a:r>
            <a:endParaRPr lang="en-US" sz="1200" dirty="0"/>
          </a:p>
        </p:txBody>
      </p:sp>
      <p:sp>
        <p:nvSpPr>
          <p:cNvPr id="17" name="Text 12"/>
          <p:cNvSpPr/>
          <p:nvPr/>
        </p:nvSpPr>
        <p:spPr>
          <a:xfrm>
            <a:off x="812800" y="6238242"/>
            <a:ext cx="3721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Wafi</a:t>
            </a:r>
            <a:endParaRPr lang="en-US" sz="1200" dirty="0"/>
          </a:p>
        </p:txBody>
      </p:sp>
      <p:sp>
        <p:nvSpPr>
          <p:cNvPr id="18" name="Text 13"/>
          <p:cNvSpPr/>
          <p:nvPr/>
        </p:nvSpPr>
        <p:spPr>
          <a:xfrm>
            <a:off x="11221006" y="6238242"/>
            <a:ext cx="2089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0"/>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a:stretch/>
        </p:blipFill>
        <p:spPr>
          <a:xfrm>
            <a:off x="812800" y="2033588"/>
            <a:ext cx="203200" cy="38100"/>
          </a:xfrm>
          <a:prstGeom prst="rect">
            <a:avLst/>
          </a:prstGeom>
        </p:spPr>
      </p:pic>
      <p:sp>
        <p:nvSpPr>
          <p:cNvPr id="3" name="Text 0"/>
          <p:cNvSpPr/>
          <p:nvPr/>
        </p:nvSpPr>
        <p:spPr>
          <a:xfrm>
            <a:off x="1104900" y="1954851"/>
            <a:ext cx="1411049" cy="220980"/>
          </a:xfrm>
          <a:prstGeom prst="rect">
            <a:avLst/>
          </a:prstGeom>
          <a:noFill/>
          <a:ln/>
        </p:spPr>
        <p:txBody>
          <a:bodyPr wrap="square" lIns="0" tIns="0" rIns="0" bIns="0" rtlCol="0" anchor="t">
            <a:normAutofit/>
          </a:bodyPr>
          <a:lstStyle/>
          <a:p>
            <a:pPr marL="0" indent="0" algn="l">
              <a:lnSpc>
                <a:spcPts val="1540"/>
              </a:lnSpc>
              <a:buNone/>
            </a:pPr>
            <a:r>
              <a:rPr lang="en-US" sz="1100" b="1" kern="0" spc="150" dirty="0">
                <a:solidFill>
                  <a:srgbClr val="FF5C1F"/>
                </a:solidFill>
                <a:latin typeface="Inter" pitchFamily="34" charset="0"/>
                <a:ea typeface="Inter" pitchFamily="34" charset="-122"/>
                <a:cs typeface="Inter" pitchFamily="34" charset="-120"/>
              </a:rPr>
              <a:t>FEATURE 5 OF 5</a:t>
            </a:r>
            <a:endParaRPr lang="en-US" sz="1100" dirty="0"/>
          </a:p>
        </p:txBody>
      </p:sp>
      <p:sp>
        <p:nvSpPr>
          <p:cNvPr id="4" name="Text 1"/>
          <p:cNvSpPr/>
          <p:nvPr/>
        </p:nvSpPr>
        <p:spPr>
          <a:xfrm>
            <a:off x="812800" y="2429830"/>
            <a:ext cx="10883392" cy="448945"/>
          </a:xfrm>
          <a:prstGeom prst="rect">
            <a:avLst/>
          </a:prstGeom>
          <a:noFill/>
          <a:ln/>
        </p:spPr>
        <p:txBody>
          <a:bodyPr wrap="square" lIns="0" tIns="0" rIns="0" bIns="0" rtlCol="0" anchor="t">
            <a:normAutofit/>
          </a:bodyPr>
          <a:lstStyle/>
          <a:p>
            <a:pPr marL="0" indent="0" algn="l">
              <a:lnSpc>
                <a:spcPts val="3335"/>
              </a:lnSpc>
              <a:buNone/>
            </a:pPr>
            <a:r>
              <a:rPr lang="en-US" sz="2900" b="1" dirty="0">
                <a:solidFill>
                  <a:srgbClr val="14171C"/>
                </a:solidFill>
                <a:latin typeface="Space Grotesk" pitchFamily="34" charset="0"/>
                <a:ea typeface="Space Grotesk" pitchFamily="34" charset="-122"/>
                <a:cs typeface="Space Grotesk" pitchFamily="34" charset="-120"/>
              </a:rPr>
              <a:t>Smart User Classification</a:t>
            </a:r>
            <a:endParaRPr lang="en-US" sz="2900" dirty="0"/>
          </a:p>
        </p:txBody>
      </p:sp>
      <p:sp>
        <p:nvSpPr>
          <p:cNvPr id="5" name="Text 2"/>
          <p:cNvSpPr/>
          <p:nvPr/>
        </p:nvSpPr>
        <p:spPr>
          <a:xfrm>
            <a:off x="812800" y="3132776"/>
            <a:ext cx="91567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7280"/>
                </a:solidFill>
                <a:latin typeface="Inter" pitchFamily="34" charset="0"/>
                <a:ea typeface="Inter" pitchFamily="34" charset="-122"/>
                <a:cs typeface="Inter" pitchFamily="34" charset="-120"/>
              </a:rPr>
              <a:t>VIP, regular, at-risk, or inactive — spotted automatically before a user churns.</a:t>
            </a:r>
            <a:endParaRPr lang="en-US" sz="1400" dirty="0"/>
          </a:p>
        </p:txBody>
      </p:sp>
      <p:sp>
        <p:nvSpPr>
          <p:cNvPr id="6" name="Shape 3"/>
          <p:cNvSpPr/>
          <p:nvPr/>
        </p:nvSpPr>
        <p:spPr>
          <a:xfrm>
            <a:off x="1866900" y="3758884"/>
            <a:ext cx="558800" cy="558800"/>
          </a:xfrm>
          <a:prstGeom prst="roundRect">
            <a:avLst>
              <a:gd name="adj" fmla="val 50000"/>
            </a:avLst>
          </a:prstGeom>
          <a:solidFill>
            <a:srgbClr val="FF5C1F"/>
          </a:solidFill>
          <a:ln/>
        </p:spPr>
        <p:txBody>
          <a:bodyPr/>
          <a:lstStyle/>
          <a:p>
            <a:endParaRPr lang="en-US"/>
          </a:p>
        </p:txBody>
      </p:sp>
      <p:sp>
        <p:nvSpPr>
          <p:cNvPr id="7" name="Text 4"/>
          <p:cNvSpPr/>
          <p:nvPr/>
        </p:nvSpPr>
        <p:spPr>
          <a:xfrm>
            <a:off x="2099707" y="3887155"/>
            <a:ext cx="143907"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FFFFF"/>
                </a:solidFill>
                <a:latin typeface="Inter" pitchFamily="34" charset="0"/>
                <a:ea typeface="Inter" pitchFamily="34" charset="-122"/>
                <a:cs typeface="Inter" pitchFamily="34" charset="-120"/>
              </a:rPr>
              <a:t>1</a:t>
            </a:r>
            <a:endParaRPr lang="en-US" sz="1700" dirty="0"/>
          </a:p>
        </p:txBody>
      </p:sp>
      <p:sp>
        <p:nvSpPr>
          <p:cNvPr id="8" name="Text 5"/>
          <p:cNvSpPr/>
          <p:nvPr/>
        </p:nvSpPr>
        <p:spPr>
          <a:xfrm>
            <a:off x="1300480" y="4406584"/>
            <a:ext cx="1691640" cy="22098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14171C"/>
                </a:solidFill>
                <a:latin typeface="Inter" pitchFamily="34" charset="0"/>
                <a:ea typeface="Inter" pitchFamily="34" charset="-122"/>
                <a:cs typeface="Inter" pitchFamily="34" charset="-120"/>
              </a:rPr>
              <a:t>Classification requested</a:t>
            </a:r>
            <a:endParaRPr lang="en-US" sz="1100" dirty="0"/>
          </a:p>
        </p:txBody>
      </p:sp>
      <p:pic>
        <p:nvPicPr>
          <p:cNvPr id="9" name="Image 1" descr="arrow-right"/>
          <p:cNvPicPr>
            <a:picLocks noChangeAspect="1"/>
          </p:cNvPicPr>
          <p:nvPr/>
        </p:nvPicPr>
        <p:blipFill>
          <a:blip r:embed="rId4"/>
          <a:srcRect/>
          <a:stretch/>
        </p:blipFill>
        <p:spPr>
          <a:xfrm>
            <a:off x="3594100" y="4040826"/>
            <a:ext cx="279400" cy="279400"/>
          </a:xfrm>
          <a:prstGeom prst="rect">
            <a:avLst/>
          </a:prstGeom>
        </p:spPr>
      </p:pic>
      <p:sp>
        <p:nvSpPr>
          <p:cNvPr id="10" name="Shape 6"/>
          <p:cNvSpPr/>
          <p:nvPr/>
        </p:nvSpPr>
        <p:spPr>
          <a:xfrm>
            <a:off x="5041900" y="3661091"/>
            <a:ext cx="558800" cy="558800"/>
          </a:xfrm>
          <a:prstGeom prst="roundRect">
            <a:avLst>
              <a:gd name="adj" fmla="val 50000"/>
            </a:avLst>
          </a:prstGeom>
          <a:solidFill>
            <a:srgbClr val="FF5C1F"/>
          </a:solidFill>
          <a:ln/>
        </p:spPr>
        <p:txBody>
          <a:bodyPr/>
          <a:lstStyle/>
          <a:p>
            <a:endParaRPr lang="en-US"/>
          </a:p>
        </p:txBody>
      </p:sp>
      <p:sp>
        <p:nvSpPr>
          <p:cNvPr id="11" name="Text 7"/>
          <p:cNvSpPr/>
          <p:nvPr/>
        </p:nvSpPr>
        <p:spPr>
          <a:xfrm>
            <a:off x="5253276" y="3789363"/>
            <a:ext cx="186849"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FFFFF"/>
                </a:solidFill>
                <a:latin typeface="Inter" pitchFamily="34" charset="0"/>
                <a:ea typeface="Inter" pitchFamily="34" charset="-122"/>
                <a:cs typeface="Inter" pitchFamily="34" charset="-120"/>
              </a:rPr>
              <a:t>2</a:t>
            </a:r>
            <a:endParaRPr lang="en-US" sz="1700" dirty="0"/>
          </a:p>
        </p:txBody>
      </p:sp>
      <p:sp>
        <p:nvSpPr>
          <p:cNvPr id="12" name="Text 8"/>
          <p:cNvSpPr/>
          <p:nvPr/>
        </p:nvSpPr>
        <p:spPr>
          <a:xfrm>
            <a:off x="3947795" y="4308791"/>
            <a:ext cx="2747010" cy="41656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14171C"/>
                </a:solidFill>
                <a:latin typeface="Inter" pitchFamily="34" charset="0"/>
                <a:ea typeface="Inter" pitchFamily="34" charset="-122"/>
                <a:cs typeface="Inter" pitchFamily="34" charset="-120"/>
              </a:rPr>
              <a:t>Subscriptions + issues aggregated per user</a:t>
            </a:r>
            <a:endParaRPr lang="en-US" sz="1100" dirty="0"/>
          </a:p>
        </p:txBody>
      </p:sp>
      <p:pic>
        <p:nvPicPr>
          <p:cNvPr id="13" name="Image 2" descr="arrow-right"/>
          <p:cNvPicPr>
            <a:picLocks noChangeAspect="1"/>
          </p:cNvPicPr>
          <p:nvPr/>
        </p:nvPicPr>
        <p:blipFill>
          <a:blip r:embed="rId4"/>
          <a:srcRect/>
          <a:stretch/>
        </p:blipFill>
        <p:spPr>
          <a:xfrm>
            <a:off x="6769100" y="4040826"/>
            <a:ext cx="279400" cy="279400"/>
          </a:xfrm>
          <a:prstGeom prst="rect">
            <a:avLst/>
          </a:prstGeom>
        </p:spPr>
      </p:pic>
      <p:sp>
        <p:nvSpPr>
          <p:cNvPr id="14" name="Shape 9"/>
          <p:cNvSpPr/>
          <p:nvPr/>
        </p:nvSpPr>
        <p:spPr>
          <a:xfrm>
            <a:off x="8216900" y="3758884"/>
            <a:ext cx="558800" cy="558800"/>
          </a:xfrm>
          <a:prstGeom prst="roundRect">
            <a:avLst>
              <a:gd name="adj" fmla="val 50000"/>
            </a:avLst>
          </a:prstGeom>
          <a:solidFill>
            <a:srgbClr val="FF5C1F"/>
          </a:solidFill>
          <a:ln/>
        </p:spPr>
        <p:txBody>
          <a:bodyPr/>
          <a:lstStyle/>
          <a:p>
            <a:endParaRPr lang="en-US"/>
          </a:p>
        </p:txBody>
      </p:sp>
      <p:sp>
        <p:nvSpPr>
          <p:cNvPr id="15" name="Text 10"/>
          <p:cNvSpPr/>
          <p:nvPr/>
        </p:nvSpPr>
        <p:spPr>
          <a:xfrm>
            <a:off x="8426609" y="3887155"/>
            <a:ext cx="190183"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FFFFF"/>
                </a:solidFill>
                <a:latin typeface="Inter" pitchFamily="34" charset="0"/>
                <a:ea typeface="Inter" pitchFamily="34" charset="-122"/>
                <a:cs typeface="Inter" pitchFamily="34" charset="-120"/>
              </a:rPr>
              <a:t>3</a:t>
            </a:r>
            <a:endParaRPr lang="en-US" sz="1700" dirty="0"/>
          </a:p>
        </p:txBody>
      </p:sp>
      <p:sp>
        <p:nvSpPr>
          <p:cNvPr id="16" name="Text 11"/>
          <p:cNvSpPr/>
          <p:nvPr/>
        </p:nvSpPr>
        <p:spPr>
          <a:xfrm>
            <a:off x="7639447" y="4406584"/>
            <a:ext cx="1713627" cy="22098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14171C"/>
                </a:solidFill>
                <a:latin typeface="Inter" pitchFamily="34" charset="0"/>
                <a:ea typeface="Inter" pitchFamily="34" charset="-122"/>
                <a:cs typeface="Inter" pitchFamily="34" charset="-120"/>
              </a:rPr>
              <a:t>Matching users returned</a:t>
            </a:r>
            <a:endParaRPr lang="en-US" sz="1100" dirty="0"/>
          </a:p>
        </p:txBody>
      </p:sp>
      <p:sp>
        <p:nvSpPr>
          <p:cNvPr id="17" name="Text 12"/>
          <p:cNvSpPr/>
          <p:nvPr/>
        </p:nvSpPr>
        <p:spPr>
          <a:xfrm>
            <a:off x="812800" y="6238242"/>
            <a:ext cx="3721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Wafi</a:t>
            </a:r>
            <a:endParaRPr lang="en-US" sz="1200" dirty="0"/>
          </a:p>
        </p:txBody>
      </p:sp>
      <p:sp>
        <p:nvSpPr>
          <p:cNvPr id="18" name="Text 13"/>
          <p:cNvSpPr/>
          <p:nvPr/>
        </p:nvSpPr>
        <p:spPr>
          <a:xfrm>
            <a:off x="11255216" y="6238242"/>
            <a:ext cx="1747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0"/>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a:stretch/>
        </p:blipFill>
        <p:spPr>
          <a:xfrm>
            <a:off x="812800" y="2108839"/>
            <a:ext cx="203200" cy="38100"/>
          </a:xfrm>
          <a:prstGeom prst="rect">
            <a:avLst/>
          </a:prstGeom>
        </p:spPr>
      </p:pic>
      <p:sp>
        <p:nvSpPr>
          <p:cNvPr id="3" name="Text 0"/>
          <p:cNvSpPr/>
          <p:nvPr/>
        </p:nvSpPr>
        <p:spPr>
          <a:xfrm>
            <a:off x="1104900" y="2030096"/>
            <a:ext cx="1572895" cy="220980"/>
          </a:xfrm>
          <a:prstGeom prst="rect">
            <a:avLst/>
          </a:prstGeom>
          <a:noFill/>
          <a:ln/>
        </p:spPr>
        <p:txBody>
          <a:bodyPr wrap="square" lIns="0" tIns="0" rIns="0" bIns="0" rtlCol="0" anchor="t">
            <a:normAutofit/>
          </a:bodyPr>
          <a:lstStyle/>
          <a:p>
            <a:pPr marL="0" indent="0" algn="l">
              <a:lnSpc>
                <a:spcPts val="1540"/>
              </a:lnSpc>
              <a:buNone/>
            </a:pPr>
            <a:r>
              <a:rPr lang="en-US" sz="1100" b="1" kern="0" spc="150" dirty="0">
                <a:solidFill>
                  <a:srgbClr val="00B892"/>
                </a:solidFill>
                <a:latin typeface="Inter" pitchFamily="34" charset="0"/>
                <a:ea typeface="Inter" pitchFamily="34" charset="-122"/>
                <a:cs typeface="Inter" pitchFamily="34" charset="-120"/>
              </a:rPr>
              <a:t>UNDER THE HOOD</a:t>
            </a:r>
            <a:endParaRPr lang="en-US" sz="1100" dirty="0"/>
          </a:p>
        </p:txBody>
      </p:sp>
      <p:sp>
        <p:nvSpPr>
          <p:cNvPr id="4" name="Text 1"/>
          <p:cNvSpPr/>
          <p:nvPr/>
        </p:nvSpPr>
        <p:spPr>
          <a:xfrm>
            <a:off x="812800" y="2479675"/>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dirty="0">
                <a:solidFill>
                  <a:srgbClr val="14171C"/>
                </a:solidFill>
                <a:latin typeface="Space Grotesk" pitchFamily="34" charset="0"/>
                <a:ea typeface="Space Grotesk" pitchFamily="34" charset="-122"/>
                <a:cs typeface="Space Grotesk" pitchFamily="34" charset="-120"/>
              </a:rPr>
              <a:t>Tech Stack</a:t>
            </a:r>
            <a:endParaRPr lang="en-US" sz="3000" dirty="0"/>
          </a:p>
        </p:txBody>
      </p:sp>
      <p:sp>
        <p:nvSpPr>
          <p:cNvPr id="5" name="Shape 2"/>
          <p:cNvSpPr/>
          <p:nvPr/>
        </p:nvSpPr>
        <p:spPr>
          <a:xfrm>
            <a:off x="812800" y="3171825"/>
            <a:ext cx="2527300" cy="1452880"/>
          </a:xfrm>
          <a:prstGeom prst="roundRect">
            <a:avLst>
              <a:gd name="adj" fmla="val 8741"/>
            </a:avLst>
          </a:prstGeom>
          <a:solidFill>
            <a:srgbClr val="FFFFFF"/>
          </a:solidFill>
          <a:ln/>
        </p:spPr>
        <p:txBody>
          <a:bodyPr/>
          <a:lstStyle/>
          <a:p>
            <a:endParaRPr lang="en-US"/>
          </a:p>
        </p:txBody>
      </p:sp>
      <p:sp>
        <p:nvSpPr>
          <p:cNvPr id="6" name="Shape 3"/>
          <p:cNvSpPr/>
          <p:nvPr/>
        </p:nvSpPr>
        <p:spPr>
          <a:xfrm>
            <a:off x="1016000" y="3375025"/>
            <a:ext cx="279400" cy="279400"/>
          </a:xfrm>
          <a:prstGeom prst="roundRect">
            <a:avLst>
              <a:gd name="adj" fmla="val 50000"/>
            </a:avLst>
          </a:prstGeom>
          <a:solidFill>
            <a:srgbClr val="3557FF"/>
          </a:solidFill>
          <a:ln/>
        </p:spPr>
        <p:txBody>
          <a:bodyPr/>
          <a:lstStyle/>
          <a:p>
            <a:endParaRPr lang="en-US"/>
          </a:p>
        </p:txBody>
      </p:sp>
      <p:sp>
        <p:nvSpPr>
          <p:cNvPr id="7" name="Text 4"/>
          <p:cNvSpPr/>
          <p:nvPr/>
        </p:nvSpPr>
        <p:spPr>
          <a:xfrm>
            <a:off x="1016000" y="3743325"/>
            <a:ext cx="2184527"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4171C"/>
                </a:solidFill>
                <a:latin typeface="Inter" pitchFamily="34" charset="0"/>
                <a:ea typeface="Inter" pitchFamily="34" charset="-122"/>
                <a:cs typeface="Inter" pitchFamily="34" charset="-120"/>
              </a:rPr>
              <a:t>Backend</a:t>
            </a:r>
            <a:endParaRPr lang="en-US" sz="1300" dirty="0"/>
          </a:p>
        </p:txBody>
      </p:sp>
      <p:sp>
        <p:nvSpPr>
          <p:cNvPr id="8" name="Text 5"/>
          <p:cNvSpPr/>
          <p:nvPr/>
        </p:nvSpPr>
        <p:spPr>
          <a:xfrm>
            <a:off x="1016000" y="4030346"/>
            <a:ext cx="2184527" cy="4165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6B7280"/>
                </a:solidFill>
                <a:latin typeface="Inter" pitchFamily="34" charset="0"/>
                <a:ea typeface="Inter" pitchFamily="34" charset="-122"/>
                <a:cs typeface="Inter" pitchFamily="34" charset="-120"/>
              </a:rPr>
              <a:t>Spring Boot, Spring Data JPA, MySQL</a:t>
            </a:r>
            <a:endParaRPr lang="en-US" sz="1100" dirty="0"/>
          </a:p>
        </p:txBody>
      </p:sp>
      <p:sp>
        <p:nvSpPr>
          <p:cNvPr id="9" name="Shape 6"/>
          <p:cNvSpPr/>
          <p:nvPr/>
        </p:nvSpPr>
        <p:spPr>
          <a:xfrm>
            <a:off x="3492500" y="3171825"/>
            <a:ext cx="2527300" cy="1452880"/>
          </a:xfrm>
          <a:prstGeom prst="roundRect">
            <a:avLst>
              <a:gd name="adj" fmla="val 8741"/>
            </a:avLst>
          </a:prstGeom>
          <a:solidFill>
            <a:srgbClr val="FFFFFF"/>
          </a:solidFill>
          <a:ln/>
        </p:spPr>
        <p:txBody>
          <a:bodyPr/>
          <a:lstStyle/>
          <a:p>
            <a:endParaRPr lang="en-US"/>
          </a:p>
        </p:txBody>
      </p:sp>
      <p:sp>
        <p:nvSpPr>
          <p:cNvPr id="10" name="Shape 7"/>
          <p:cNvSpPr/>
          <p:nvPr/>
        </p:nvSpPr>
        <p:spPr>
          <a:xfrm>
            <a:off x="3695700" y="3375025"/>
            <a:ext cx="279400" cy="279400"/>
          </a:xfrm>
          <a:prstGeom prst="roundRect">
            <a:avLst>
              <a:gd name="adj" fmla="val 50000"/>
            </a:avLst>
          </a:prstGeom>
          <a:solidFill>
            <a:srgbClr val="FF5C1F"/>
          </a:solidFill>
          <a:ln/>
        </p:spPr>
        <p:txBody>
          <a:bodyPr/>
          <a:lstStyle/>
          <a:p>
            <a:endParaRPr lang="en-US"/>
          </a:p>
        </p:txBody>
      </p:sp>
      <p:sp>
        <p:nvSpPr>
          <p:cNvPr id="11" name="Text 8"/>
          <p:cNvSpPr/>
          <p:nvPr/>
        </p:nvSpPr>
        <p:spPr>
          <a:xfrm>
            <a:off x="3695700" y="3743325"/>
            <a:ext cx="2184527"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4171C"/>
                </a:solidFill>
                <a:latin typeface="Inter" pitchFamily="34" charset="0"/>
                <a:ea typeface="Inter" pitchFamily="34" charset="-122"/>
                <a:cs typeface="Inter" pitchFamily="34" charset="-120"/>
              </a:rPr>
              <a:t>AI</a:t>
            </a:r>
            <a:endParaRPr lang="en-US" sz="1300" dirty="0"/>
          </a:p>
        </p:txBody>
      </p:sp>
      <p:sp>
        <p:nvSpPr>
          <p:cNvPr id="12" name="Text 9"/>
          <p:cNvSpPr/>
          <p:nvPr/>
        </p:nvSpPr>
        <p:spPr>
          <a:xfrm>
            <a:off x="3695700" y="4030346"/>
            <a:ext cx="2184527"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6B7280"/>
                </a:solidFill>
                <a:latin typeface="Inter" pitchFamily="34" charset="0"/>
                <a:ea typeface="Inter" pitchFamily="34" charset="-122"/>
                <a:cs typeface="Inter" pitchFamily="34" charset="-120"/>
              </a:rPr>
              <a:t>Google Gemini API</a:t>
            </a:r>
            <a:endParaRPr lang="en-US" sz="1100" dirty="0"/>
          </a:p>
        </p:txBody>
      </p:sp>
      <p:sp>
        <p:nvSpPr>
          <p:cNvPr id="13" name="Shape 10"/>
          <p:cNvSpPr/>
          <p:nvPr/>
        </p:nvSpPr>
        <p:spPr>
          <a:xfrm>
            <a:off x="6172200" y="3171825"/>
            <a:ext cx="2527300" cy="1452880"/>
          </a:xfrm>
          <a:prstGeom prst="roundRect">
            <a:avLst>
              <a:gd name="adj" fmla="val 8741"/>
            </a:avLst>
          </a:prstGeom>
          <a:solidFill>
            <a:srgbClr val="FFFFFF"/>
          </a:solidFill>
          <a:ln/>
        </p:spPr>
        <p:txBody>
          <a:bodyPr/>
          <a:lstStyle/>
          <a:p>
            <a:endParaRPr lang="en-US"/>
          </a:p>
        </p:txBody>
      </p:sp>
      <p:sp>
        <p:nvSpPr>
          <p:cNvPr id="14" name="Shape 11"/>
          <p:cNvSpPr/>
          <p:nvPr/>
        </p:nvSpPr>
        <p:spPr>
          <a:xfrm>
            <a:off x="6375400" y="3375025"/>
            <a:ext cx="279400" cy="279400"/>
          </a:xfrm>
          <a:prstGeom prst="roundRect">
            <a:avLst>
              <a:gd name="adj" fmla="val 50000"/>
            </a:avLst>
          </a:prstGeom>
          <a:solidFill>
            <a:srgbClr val="00B892"/>
          </a:solidFill>
          <a:ln/>
        </p:spPr>
        <p:txBody>
          <a:bodyPr/>
          <a:lstStyle/>
          <a:p>
            <a:endParaRPr lang="en-US"/>
          </a:p>
        </p:txBody>
      </p:sp>
      <p:sp>
        <p:nvSpPr>
          <p:cNvPr id="15" name="Text 12"/>
          <p:cNvSpPr/>
          <p:nvPr/>
        </p:nvSpPr>
        <p:spPr>
          <a:xfrm>
            <a:off x="6375400" y="3743325"/>
            <a:ext cx="2184527"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4171C"/>
                </a:solidFill>
                <a:latin typeface="Inter" pitchFamily="34" charset="0"/>
                <a:ea typeface="Inter" pitchFamily="34" charset="-122"/>
                <a:cs typeface="Inter" pitchFamily="34" charset="-120"/>
              </a:rPr>
              <a:t>Delivery</a:t>
            </a:r>
            <a:endParaRPr lang="en-US" sz="1300" dirty="0"/>
          </a:p>
        </p:txBody>
      </p:sp>
      <p:sp>
        <p:nvSpPr>
          <p:cNvPr id="16" name="Text 13"/>
          <p:cNvSpPr/>
          <p:nvPr/>
        </p:nvSpPr>
        <p:spPr>
          <a:xfrm>
            <a:off x="6375400" y="4030346"/>
            <a:ext cx="2184527" cy="4165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6B7280"/>
                </a:solidFill>
                <a:latin typeface="Inter" pitchFamily="34" charset="0"/>
                <a:ea typeface="Inter" pitchFamily="34" charset="-122"/>
                <a:cs typeface="Inter" pitchFamily="34" charset="-120"/>
              </a:rPr>
              <a:t>WhatsApp (Green API) + Gmail SMTP</a:t>
            </a:r>
            <a:endParaRPr lang="en-US" sz="1100" dirty="0"/>
          </a:p>
        </p:txBody>
      </p:sp>
      <p:sp>
        <p:nvSpPr>
          <p:cNvPr id="17" name="Shape 14"/>
          <p:cNvSpPr/>
          <p:nvPr/>
        </p:nvSpPr>
        <p:spPr>
          <a:xfrm>
            <a:off x="8851900" y="3171825"/>
            <a:ext cx="2527300" cy="1452880"/>
          </a:xfrm>
          <a:prstGeom prst="roundRect">
            <a:avLst>
              <a:gd name="adj" fmla="val 8741"/>
            </a:avLst>
          </a:prstGeom>
          <a:solidFill>
            <a:srgbClr val="FFFFFF"/>
          </a:solidFill>
          <a:ln/>
        </p:spPr>
        <p:txBody>
          <a:bodyPr/>
          <a:lstStyle/>
          <a:p>
            <a:endParaRPr lang="en-US"/>
          </a:p>
        </p:txBody>
      </p:sp>
      <p:sp>
        <p:nvSpPr>
          <p:cNvPr id="18" name="Shape 15"/>
          <p:cNvSpPr/>
          <p:nvPr/>
        </p:nvSpPr>
        <p:spPr>
          <a:xfrm>
            <a:off x="9055100" y="3375025"/>
            <a:ext cx="279400" cy="279400"/>
          </a:xfrm>
          <a:prstGeom prst="roundRect">
            <a:avLst>
              <a:gd name="adj" fmla="val 50000"/>
            </a:avLst>
          </a:prstGeom>
          <a:solidFill>
            <a:srgbClr val="FF3B30"/>
          </a:solidFill>
          <a:ln/>
        </p:spPr>
        <p:txBody>
          <a:bodyPr/>
          <a:lstStyle/>
          <a:p>
            <a:endParaRPr lang="en-US"/>
          </a:p>
        </p:txBody>
      </p:sp>
      <p:sp>
        <p:nvSpPr>
          <p:cNvPr id="19" name="Text 16"/>
          <p:cNvSpPr/>
          <p:nvPr/>
        </p:nvSpPr>
        <p:spPr>
          <a:xfrm>
            <a:off x="9055100" y="3743325"/>
            <a:ext cx="2184527"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4171C"/>
                </a:solidFill>
                <a:latin typeface="Inter" pitchFamily="34" charset="0"/>
                <a:ea typeface="Inter" pitchFamily="34" charset="-122"/>
                <a:cs typeface="Inter" pitchFamily="34" charset="-120"/>
              </a:rPr>
              <a:t>Testing</a:t>
            </a:r>
            <a:endParaRPr lang="en-US" sz="1300" dirty="0"/>
          </a:p>
        </p:txBody>
      </p:sp>
      <p:sp>
        <p:nvSpPr>
          <p:cNvPr id="20" name="Text 17"/>
          <p:cNvSpPr/>
          <p:nvPr/>
        </p:nvSpPr>
        <p:spPr>
          <a:xfrm>
            <a:off x="9055100" y="4030346"/>
            <a:ext cx="2184527"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6B7280"/>
                </a:solidFill>
                <a:latin typeface="Inter" pitchFamily="34" charset="0"/>
                <a:ea typeface="Inter" pitchFamily="34" charset="-122"/>
                <a:cs typeface="Inter" pitchFamily="34" charset="-120"/>
              </a:rPr>
              <a:t>Postman, seeded demo dataset</a:t>
            </a:r>
            <a:endParaRPr lang="en-US" sz="1100" dirty="0"/>
          </a:p>
        </p:txBody>
      </p:sp>
      <p:sp>
        <p:nvSpPr>
          <p:cNvPr id="21" name="Text 18"/>
          <p:cNvSpPr/>
          <p:nvPr/>
        </p:nvSpPr>
        <p:spPr>
          <a:xfrm>
            <a:off x="812800" y="6238242"/>
            <a:ext cx="3721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Wafi</a:t>
            </a:r>
            <a:endParaRPr lang="en-US" sz="1200" dirty="0"/>
          </a:p>
        </p:txBody>
      </p:sp>
      <p:sp>
        <p:nvSpPr>
          <p:cNvPr id="22" name="Text 19"/>
          <p:cNvSpPr/>
          <p:nvPr/>
        </p:nvSpPr>
        <p:spPr>
          <a:xfrm>
            <a:off x="11224260" y="6238242"/>
            <a:ext cx="2057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B892"/>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a:stretch/>
        </p:blipFill>
        <p:spPr>
          <a:xfrm>
            <a:off x="0" y="4967908"/>
            <a:ext cx="1890092" cy="1890092"/>
          </a:xfrm>
          <a:prstGeom prst="rect">
            <a:avLst/>
          </a:prstGeom>
        </p:spPr>
      </p:pic>
      <p:pic>
        <p:nvPicPr>
          <p:cNvPr id="3" name="Image 1" descr="ellipse"/>
          <p:cNvPicPr>
            <a:picLocks noChangeAspect="1"/>
          </p:cNvPicPr>
          <p:nvPr/>
        </p:nvPicPr>
        <p:blipFill>
          <a:blip r:embed="rId4"/>
          <a:srcRect/>
          <a:stretch/>
        </p:blipFill>
        <p:spPr>
          <a:xfrm>
            <a:off x="10668000" y="1016000"/>
            <a:ext cx="254000" cy="254000"/>
          </a:xfrm>
          <a:prstGeom prst="rect">
            <a:avLst/>
          </a:prstGeom>
        </p:spPr>
      </p:pic>
      <p:pic>
        <p:nvPicPr>
          <p:cNvPr id="4" name="Image 2" descr="rect"/>
          <p:cNvPicPr>
            <a:picLocks noChangeAspect="1"/>
          </p:cNvPicPr>
          <p:nvPr/>
        </p:nvPicPr>
        <p:blipFill>
          <a:blip r:embed="rId5"/>
          <a:srcRect/>
          <a:stretch/>
        </p:blipFill>
        <p:spPr>
          <a:xfrm>
            <a:off x="812800" y="2393950"/>
            <a:ext cx="203200" cy="38100"/>
          </a:xfrm>
          <a:prstGeom prst="rect">
            <a:avLst/>
          </a:prstGeom>
        </p:spPr>
      </p:pic>
      <p:sp>
        <p:nvSpPr>
          <p:cNvPr id="5" name="Text 0"/>
          <p:cNvSpPr/>
          <p:nvPr/>
        </p:nvSpPr>
        <p:spPr>
          <a:xfrm>
            <a:off x="1104900" y="2306321"/>
            <a:ext cx="114736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FFFF"/>
                </a:solidFill>
                <a:latin typeface="Inter" pitchFamily="34" charset="0"/>
                <a:ea typeface="Inter" pitchFamily="34" charset="-122"/>
                <a:cs typeface="Inter" pitchFamily="34" charset="-120"/>
              </a:rPr>
              <a:t>THANK YOU</a:t>
            </a:r>
            <a:endParaRPr lang="en-US" sz="1200" dirty="0"/>
          </a:p>
        </p:txBody>
      </p:sp>
      <p:sp>
        <p:nvSpPr>
          <p:cNvPr id="6" name="Text 1"/>
          <p:cNvSpPr/>
          <p:nvPr/>
        </p:nvSpPr>
        <p:spPr>
          <a:xfrm>
            <a:off x="812800" y="2722879"/>
            <a:ext cx="10883392" cy="13665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FFFFF"/>
                </a:solidFill>
                <a:latin typeface="Space Grotesk" pitchFamily="34" charset="0"/>
                <a:ea typeface="Space Grotesk" pitchFamily="34" charset="-122"/>
                <a:cs typeface="Space Grotesk" pitchFamily="34" charset="-120"/>
              </a:rPr>
              <a:t>From reactive frustration to proactive trust.</a:t>
            </a:r>
            <a:endParaRPr lang="en-US" sz="4800" dirty="0"/>
          </a:p>
        </p:txBody>
      </p:sp>
      <p:sp>
        <p:nvSpPr>
          <p:cNvPr id="7" name="Text 2"/>
          <p:cNvSpPr/>
          <p:nvPr/>
        </p:nvSpPr>
        <p:spPr>
          <a:xfrm>
            <a:off x="812800" y="42672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DFFAF0"/>
                </a:solidFill>
                <a:latin typeface="Inter" pitchFamily="34" charset="0"/>
                <a:ea typeface="Inter" pitchFamily="34" charset="-122"/>
                <a:cs typeface="Inter" pitchFamily="34" charset="-120"/>
              </a:rPr>
              <a:t>Wafi — Mohammed Turki</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428</TotalTime>
  <Words>1127</Words>
  <Application>Microsoft Office PowerPoint</Application>
  <PresentationFormat>Widescreen</PresentationFormat>
  <Paragraphs>153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Inter</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Wafi — Capstone Presentation</dc:title>
  <dc:subject>PptxGenJS Presentation</dc:subject>
  <dc:creator>PptxGenJS</dc:creator>
  <cp:lastModifiedBy>MOHAMMED TURKI ALJUBAILI</cp:lastModifiedBy>
  <cp:revision>2</cp:revision>
  <dcterms:created xsi:type="dcterms:W3CDTF">2026-09-27T20:19:05Z</dcterms:created>
  <dcterms:modified xsi:type="dcterms:W3CDTF">2026-09-28T03:28:15Z</dcterms:modified>
</cp:coreProperties>
</file>